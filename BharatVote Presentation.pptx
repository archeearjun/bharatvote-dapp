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74" r:id="rId9"/>
    <p:sldId id="273" r:id="rId10"/>
    <p:sldId id="272" r:id="rId11"/>
    <p:sldId id="271" r:id="rId12"/>
    <p:sldId id="263" r:id="rId13"/>
    <p:sldId id="264" r:id="rId14"/>
    <p:sldId id="265" r:id="rId15"/>
    <p:sldId id="266" r:id="rId16"/>
    <p:sldId id="267" r:id="rId17"/>
    <p:sldId id="268" r:id="rId18"/>
    <p:sldId id="269" r:id="rId19"/>
    <p:sldId id="270" r:id="rId20"/>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94660"/>
  </p:normalViewPr>
  <p:slideViewPr>
    <p:cSldViewPr>
      <p:cViewPr>
        <p:scale>
          <a:sx n="99" d="100"/>
          <a:sy n="99" d="100"/>
        </p:scale>
        <p:origin x="2534" y="6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CC4172-4071-7356-E061-0C03F8B897A4}"/>
              </a:ext>
            </a:extLst>
          </p:cNvPr>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4790E03-6071-2FB5-C284-567AFEBEA652}"/>
              </a:ext>
            </a:extLst>
          </p:cNvPr>
          <p:cNvSpPr>
            <a:spLocks noGrp="1"/>
          </p:cNvSpPr>
          <p:nvPr>
            <p:ph type="dt" sz="quarter" idx="1"/>
          </p:nvPr>
        </p:nvSpPr>
        <p:spPr>
          <a:xfrm>
            <a:off x="2611438" y="0"/>
            <a:ext cx="1997075" cy="173038"/>
          </a:xfrm>
          <a:prstGeom prst="rect">
            <a:avLst/>
          </a:prstGeom>
        </p:spPr>
        <p:txBody>
          <a:bodyPr vert="horz" lIns="91440" tIns="45720" rIns="91440" bIns="45720" rtlCol="0"/>
          <a:lstStyle>
            <a:lvl1pPr algn="r">
              <a:defRPr sz="1200"/>
            </a:lvl1pPr>
          </a:lstStyle>
          <a:p>
            <a:fld id="{C498D40A-491C-4EC7-B629-F76C18DD0433}" type="datetimeFigureOut">
              <a:rPr lang="en-IN" smtClean="0"/>
              <a:t>04-08-2025</a:t>
            </a:fld>
            <a:endParaRPr lang="en-IN"/>
          </a:p>
        </p:txBody>
      </p:sp>
      <p:sp>
        <p:nvSpPr>
          <p:cNvPr id="4" name="Footer Placeholder 3">
            <a:extLst>
              <a:ext uri="{FF2B5EF4-FFF2-40B4-BE49-F238E27FC236}">
                <a16:creationId xmlns:a16="http://schemas.microsoft.com/office/drawing/2014/main" id="{FDD08180-E9FA-5F84-66FC-36AE7F577B55}"/>
              </a:ext>
            </a:extLst>
          </p:cNvPr>
          <p:cNvSpPr>
            <a:spLocks noGrp="1"/>
          </p:cNvSpPr>
          <p:nvPr>
            <p:ph type="ftr" sz="quarter" idx="2"/>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8AD3740-CE7A-F224-55F8-C1D3DF49753F}"/>
              </a:ext>
            </a:extLst>
          </p:cNvPr>
          <p:cNvSpPr>
            <a:spLocks noGrp="1"/>
          </p:cNvSpPr>
          <p:nvPr>
            <p:ph type="sldNum" sz="quarter" idx="3"/>
          </p:nvPr>
        </p:nvSpPr>
        <p:spPr>
          <a:xfrm>
            <a:off x="2611438" y="3287713"/>
            <a:ext cx="1997075" cy="173037"/>
          </a:xfrm>
          <a:prstGeom prst="rect">
            <a:avLst/>
          </a:prstGeom>
        </p:spPr>
        <p:txBody>
          <a:bodyPr vert="horz" lIns="91440" tIns="45720" rIns="91440" bIns="45720" rtlCol="0" anchor="b"/>
          <a:lstStyle>
            <a:lvl1pPr algn="r">
              <a:defRPr sz="1200"/>
            </a:lvl1pPr>
          </a:lstStyle>
          <a:p>
            <a:fld id="{2EC62FCA-E952-41FA-9136-CA4981EDD67E}" type="slidenum">
              <a:rPr lang="en-IN" smtClean="0"/>
              <a:t>‹#›</a:t>
            </a:fld>
            <a:endParaRPr lang="en-IN"/>
          </a:p>
        </p:txBody>
      </p:sp>
    </p:spTree>
    <p:extLst>
      <p:ext uri="{BB962C8B-B14F-4D97-AF65-F5344CB8AC3E}">
        <p14:creationId xmlns:p14="http://schemas.microsoft.com/office/powerpoint/2010/main" val="29044923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870CAA06-37B1-4527-BFCE-E4B2AE11352C}" type="datetimeFigureOut">
              <a:rPr lang="en-IN" smtClean="0"/>
              <a:t>04-08-2025</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CCDE8626-16A5-44F1-BE88-B33BBF4DB36B}" type="slidenum">
              <a:rPr lang="en-IN" smtClean="0"/>
              <a:t>‹#›</a:t>
            </a:fld>
            <a:endParaRPr lang="en-IN"/>
          </a:p>
        </p:txBody>
      </p:sp>
    </p:spTree>
    <p:extLst>
      <p:ext uri="{BB962C8B-B14F-4D97-AF65-F5344CB8AC3E}">
        <p14:creationId xmlns:p14="http://schemas.microsoft.com/office/powerpoint/2010/main" val="30632083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IN"/>
              <a:t>August 4, 2025</a:t>
            </a:r>
            <a:endParaRPr spc="-2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D39A1F4-2AC1-4A6C-A990-9EA433DE1FEB}" type="datetime1">
              <a:rPr lang="en-US" smtClean="0"/>
              <a:t>8/4/2025</a:t>
            </a:fld>
            <a:endParaRPr lang="en-US"/>
          </a:p>
        </p:txBody>
      </p:sp>
      <p:sp>
        <p:nvSpPr>
          <p:cNvPr id="6" name="Holder 6"/>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12700">
              <a:lnSpc>
                <a:spcPts val="675"/>
              </a:lnSpc>
            </a:pPr>
            <a:fld id="{81D60167-4931-47E6-BA6A-407CBD079E47}" type="slidenum">
              <a:rPr spc="-10" dirty="0"/>
              <a:t>‹#›</a:t>
            </a:fld>
            <a:r>
              <a:rPr spc="-85" dirty="0"/>
              <a:t> </a:t>
            </a:r>
            <a:r>
              <a:rPr spc="90" dirty="0"/>
              <a:t>/</a:t>
            </a:r>
            <a:r>
              <a:rPr spc="-85" dirty="0"/>
              <a:t> </a:t>
            </a:r>
            <a:r>
              <a:rPr spc="-35" dirty="0"/>
              <a:t>15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69083"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2989465"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67268"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2361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60445"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20326"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31425"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07626"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78593"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02393"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78593"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49573"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1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IN"/>
              <a:t>August 4, 2025</a:t>
            </a:r>
            <a:endParaRPr spc="-2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2F97C83-C9AB-46D3-8760-95868128DC40}" type="datetime1">
              <a:rPr lang="en-US" smtClean="0"/>
              <a:t>8/4/2025</a:t>
            </a:fld>
            <a:endParaRPr lang="en-US"/>
          </a:p>
        </p:txBody>
      </p:sp>
      <p:sp>
        <p:nvSpPr>
          <p:cNvPr id="6" name="Holder 6"/>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12700">
              <a:lnSpc>
                <a:spcPts val="675"/>
              </a:lnSpc>
            </a:pPr>
            <a:fld id="{81D60167-4931-47E6-BA6A-407CBD079E47}" type="slidenum">
              <a:rPr spc="-10" dirty="0"/>
              <a:t>‹#›</a:t>
            </a:fld>
            <a:r>
              <a:rPr spc="-85" dirty="0"/>
              <a:t> </a:t>
            </a:r>
            <a:r>
              <a:rPr spc="90" dirty="0"/>
              <a:t>/</a:t>
            </a:r>
            <a:r>
              <a:rPr spc="-85" dirty="0"/>
              <a:t> </a:t>
            </a:r>
            <a:r>
              <a:rPr spc="-35" dirty="0"/>
              <a:t>15</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IN"/>
              <a:t>August 4, 2025</a:t>
            </a:r>
            <a:endParaRPr spc="-2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0273B741-E669-4E54-A494-6DE1240E4017}" type="datetime1">
              <a:rPr lang="en-US" smtClean="0"/>
              <a:t>8/4/2025</a:t>
            </a:fld>
            <a:endParaRPr lang="en-US"/>
          </a:p>
        </p:txBody>
      </p:sp>
      <p:sp>
        <p:nvSpPr>
          <p:cNvPr id="7" name="Holder 7"/>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12700">
              <a:lnSpc>
                <a:spcPts val="675"/>
              </a:lnSpc>
            </a:pPr>
            <a:fld id="{81D60167-4931-47E6-BA6A-407CBD079E47}" type="slidenum">
              <a:rPr spc="-10" dirty="0"/>
              <a:t>‹#›</a:t>
            </a:fld>
            <a:r>
              <a:rPr spc="-85" dirty="0"/>
              <a:t> </a:t>
            </a:r>
            <a:r>
              <a:rPr spc="90" dirty="0"/>
              <a:t>/</a:t>
            </a:r>
            <a:r>
              <a:rPr spc="-85" dirty="0"/>
              <a:t> </a:t>
            </a:r>
            <a:r>
              <a:rPr spc="-35" dirty="0"/>
              <a:t>15</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69083"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2989465"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67268"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2361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60445"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20326"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31425"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07626"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78593"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02393"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78593"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49573"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1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IN"/>
              <a:t>August 4, 2025</a:t>
            </a:r>
            <a:endParaRPr spc="-2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B739F141-7DBA-4942-9E9F-8C779971634A}" type="datetime1">
              <a:rPr lang="en-US" smtClean="0"/>
              <a:t>8/4/2025</a:t>
            </a:fld>
            <a:endParaRPr lang="en-US"/>
          </a:p>
        </p:txBody>
      </p:sp>
      <p:sp>
        <p:nvSpPr>
          <p:cNvPr id="5" name="Holder 5"/>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12700">
              <a:lnSpc>
                <a:spcPts val="675"/>
              </a:lnSpc>
            </a:pPr>
            <a:fld id="{81D60167-4931-47E6-BA6A-407CBD079E47}" type="slidenum">
              <a:rPr spc="-10" dirty="0"/>
              <a:t>‹#›</a:t>
            </a:fld>
            <a:r>
              <a:rPr spc="-85" dirty="0"/>
              <a:t> </a:t>
            </a:r>
            <a:r>
              <a:rPr spc="90" dirty="0"/>
              <a:t>/</a:t>
            </a:r>
            <a:r>
              <a:rPr spc="-85" dirty="0"/>
              <a:t> </a:t>
            </a:r>
            <a:r>
              <a:rPr spc="-35" dirty="0"/>
              <a:t>15</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IN"/>
              <a:t>August 4, 2025</a:t>
            </a:r>
            <a:endParaRPr spc="-2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AEF9A42-F525-4ECB-8702-797B4DD2EE2D}" type="datetime1">
              <a:rPr lang="en-US" smtClean="0"/>
              <a:t>8/4/2025</a:t>
            </a:fld>
            <a:endParaRPr lang="en-US"/>
          </a:p>
        </p:txBody>
      </p:sp>
      <p:sp>
        <p:nvSpPr>
          <p:cNvPr id="4" name="Holder 4"/>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12700">
              <a:lnSpc>
                <a:spcPts val="675"/>
              </a:lnSpc>
            </a:pPr>
            <a:fld id="{81D60167-4931-47E6-BA6A-407CBD079E47}" type="slidenum">
              <a:rPr spc="-10" dirty="0"/>
              <a:t>‹#›</a:t>
            </a:fld>
            <a:r>
              <a:rPr spc="-85" dirty="0"/>
              <a:t> </a:t>
            </a:r>
            <a:r>
              <a:rPr spc="90" dirty="0"/>
              <a:t>/</a:t>
            </a:r>
            <a:r>
              <a:rPr spc="-85" dirty="0"/>
              <a:t> </a:t>
            </a:r>
            <a:r>
              <a:rPr spc="-35" dirty="0"/>
              <a:t>15</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69083"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2989465"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67268"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2361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60445"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20326"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31425"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07626"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78593"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02393"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78593"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49573"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402932" y="1494877"/>
            <a:ext cx="4079240" cy="191769"/>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3" name="Holder 3"/>
          <p:cNvSpPr>
            <a:spLocks noGrp="1"/>
          </p:cNvSpPr>
          <p:nvPr>
            <p:ph type="body" idx="1"/>
          </p:nvPr>
        </p:nvSpPr>
        <p:spPr>
          <a:xfrm>
            <a:off x="402932" y="1177098"/>
            <a:ext cx="4044950" cy="994410"/>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455327" y="3351784"/>
            <a:ext cx="541020" cy="102235"/>
          </a:xfrm>
          <a:prstGeom prst="rect">
            <a:avLst/>
          </a:prstGeom>
        </p:spPr>
        <p:txBody>
          <a:bodyPr wrap="square" lIns="0" tIns="0" rIns="0" bIns="0">
            <a:spAutoFit/>
          </a:bodyPr>
          <a:lstStyle>
            <a:lvl1pPr>
              <a:defRPr sz="600" b="0" i="0">
                <a:solidFill>
                  <a:schemeClr val="bg1"/>
                </a:solidFill>
                <a:latin typeface="Tahoma"/>
                <a:cs typeface="Tahoma"/>
              </a:defRPr>
            </a:lvl1pPr>
          </a:lstStyle>
          <a:p>
            <a:pPr marL="12700">
              <a:lnSpc>
                <a:spcPts val="675"/>
              </a:lnSpc>
            </a:pPr>
            <a:r>
              <a:rPr lang="en-IN"/>
              <a:t>August 4, 2025</a:t>
            </a:r>
            <a:endParaRPr spc="-20" dirty="0"/>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818CEC04-F1FC-4DFB-8D1B-27CA5C937F65}" type="datetime1">
              <a:rPr lang="en-US" smtClean="0"/>
              <a:t>8/4/2025</a:t>
            </a:fld>
            <a:endParaRPr lang="en-US"/>
          </a:p>
        </p:txBody>
      </p:sp>
      <p:sp>
        <p:nvSpPr>
          <p:cNvPr id="6" name="Holder 6"/>
          <p:cNvSpPr>
            <a:spLocks noGrp="1"/>
          </p:cNvSpPr>
          <p:nvPr>
            <p:ph type="sldNum" sz="quarter" idx="7"/>
          </p:nvPr>
        </p:nvSpPr>
        <p:spPr>
          <a:xfrm>
            <a:off x="4299325" y="3351784"/>
            <a:ext cx="254000" cy="102235"/>
          </a:xfrm>
          <a:prstGeom prst="rect">
            <a:avLst/>
          </a:prstGeom>
        </p:spPr>
        <p:txBody>
          <a:bodyPr wrap="square" lIns="0" tIns="0" rIns="0" bIns="0">
            <a:spAutoFit/>
          </a:bodyPr>
          <a:lstStyle>
            <a:lvl1pPr>
              <a:defRPr sz="600" b="0" i="0">
                <a:solidFill>
                  <a:schemeClr val="bg1"/>
                </a:solidFill>
                <a:latin typeface="Tahoma"/>
                <a:cs typeface="Tahoma"/>
              </a:defRPr>
            </a:lvl1pPr>
          </a:lstStyle>
          <a:p>
            <a:pPr marL="12700">
              <a:lnSpc>
                <a:spcPts val="675"/>
              </a:lnSpc>
            </a:pPr>
            <a:fld id="{81D60167-4931-47E6-BA6A-407CBD079E47}" type="slidenum">
              <a:rPr spc="-10" dirty="0"/>
              <a:t>‹#›</a:t>
            </a:fld>
            <a:r>
              <a:rPr spc="-85" dirty="0"/>
              <a:t> </a:t>
            </a:r>
            <a:r>
              <a:rPr spc="90" dirty="0"/>
              <a:t>/</a:t>
            </a:r>
            <a:r>
              <a:rPr spc="-85" dirty="0"/>
              <a:t> </a:t>
            </a:r>
            <a:r>
              <a:rPr spc="-35" dirty="0"/>
              <a:t>15</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2" name="object 12"/>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3" name="object 13"/>
          <p:cNvSpPr txBox="1">
            <a:spLocks noGrp="1"/>
          </p:cNvSpPr>
          <p:nvPr>
            <p:ph type="ftr" sz="quarter" idx="5"/>
          </p:nvPr>
        </p:nvSpPr>
        <p:spPr>
          <a:xfrm>
            <a:off x="3455327" y="3351784"/>
            <a:ext cx="541020" cy="89768"/>
          </a:xfrm>
          <a:prstGeom prst="rect">
            <a:avLst/>
          </a:prstGeom>
        </p:spPr>
        <p:txBody>
          <a:bodyPr vert="horz" wrap="square" lIns="0" tIns="0" rIns="0" bIns="0" rtlCol="0">
            <a:spAutoFit/>
          </a:bodyPr>
          <a:lstStyle/>
          <a:p>
            <a:pPr marL="12700">
              <a:lnSpc>
                <a:spcPts val="675"/>
              </a:lnSpc>
            </a:pPr>
            <a:r>
              <a:rPr dirty="0"/>
              <a:t>August</a:t>
            </a:r>
            <a:r>
              <a:rPr spc="15" dirty="0"/>
              <a:t> </a:t>
            </a:r>
            <a:r>
              <a:rPr lang="en-US" spc="15" dirty="0"/>
              <a:t>4</a:t>
            </a:r>
            <a:r>
              <a:rPr dirty="0"/>
              <a:t>,</a:t>
            </a:r>
            <a:r>
              <a:rPr spc="20" dirty="0"/>
              <a:t> </a:t>
            </a:r>
            <a:r>
              <a:rPr spc="-20" dirty="0"/>
              <a:t>2025</a:t>
            </a:r>
          </a:p>
        </p:txBody>
      </p:sp>
      <p:sp>
        <p:nvSpPr>
          <p:cNvPr id="14" name="object 14"/>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a:t>
            </a:fld>
            <a:r>
              <a:rPr spc="-85" dirty="0"/>
              <a:t> </a:t>
            </a:r>
            <a:r>
              <a:rPr spc="90" dirty="0"/>
              <a:t>/</a:t>
            </a:r>
            <a:r>
              <a:rPr spc="-85" dirty="0"/>
              <a:t> </a:t>
            </a:r>
            <a:r>
              <a:rPr spc="-35" dirty="0"/>
              <a:t>1</a:t>
            </a:r>
            <a:r>
              <a:rPr lang="en-US" spc="-35" dirty="0"/>
              <a:t>9</a:t>
            </a:r>
            <a:endParaRPr spc="-35" dirty="0"/>
          </a:p>
        </p:txBody>
      </p:sp>
      <p:sp>
        <p:nvSpPr>
          <p:cNvPr id="18" name="object 6"/>
          <p:cNvSpPr txBox="1"/>
          <p:nvPr/>
        </p:nvSpPr>
        <p:spPr>
          <a:xfrm>
            <a:off x="267102" y="434752"/>
            <a:ext cx="4073710" cy="282129"/>
          </a:xfrm>
          <a:prstGeom prst="rect">
            <a:avLst/>
          </a:prstGeom>
        </p:spPr>
        <p:style>
          <a:lnRef idx="2">
            <a:schemeClr val="accent3"/>
          </a:lnRef>
          <a:fillRef idx="1">
            <a:schemeClr val="lt1"/>
          </a:fillRef>
          <a:effectRef idx="0">
            <a:schemeClr val="accent3"/>
          </a:effectRef>
          <a:fontRef idx="minor">
            <a:schemeClr val="dk1"/>
          </a:fontRef>
        </p:style>
        <p:txBody>
          <a:bodyPr vert="horz" wrap="square" lIns="0" tIns="66040" rIns="0" bIns="0" rtlCol="0">
            <a:spAutoFit/>
          </a:bodyPr>
          <a:lstStyle/>
          <a:p>
            <a:pPr algn="ctr"/>
            <a:r>
              <a:rPr lang="en-US" sz="1400" dirty="0">
                <a:solidFill>
                  <a:schemeClr val="tx1"/>
                </a:solidFill>
              </a:rPr>
              <a:t>BharatVote: A Blockchain-Based Secure Voting System</a:t>
            </a:r>
          </a:p>
        </p:txBody>
      </p:sp>
      <p:sp>
        <p:nvSpPr>
          <p:cNvPr id="23" name="TextBox 22">
            <a:extLst>
              <a:ext uri="{FF2B5EF4-FFF2-40B4-BE49-F238E27FC236}">
                <a16:creationId xmlns:a16="http://schemas.microsoft.com/office/drawing/2014/main" id="{38D33CE6-C91F-4350-BB99-F1946A3BA7B6}"/>
              </a:ext>
            </a:extLst>
          </p:cNvPr>
          <p:cNvSpPr txBox="1"/>
          <p:nvPr/>
        </p:nvSpPr>
        <p:spPr>
          <a:xfrm>
            <a:off x="1381690" y="851027"/>
            <a:ext cx="1844534" cy="24622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1000" i="1" dirty="0"/>
              <a:t>Secure Voting, Stronger India</a:t>
            </a:r>
          </a:p>
        </p:txBody>
      </p:sp>
      <p:sp>
        <p:nvSpPr>
          <p:cNvPr id="3" name="TextBox 2">
            <a:extLst>
              <a:ext uri="{FF2B5EF4-FFF2-40B4-BE49-F238E27FC236}">
                <a16:creationId xmlns:a16="http://schemas.microsoft.com/office/drawing/2014/main" id="{EC5C1985-F3B3-3916-1634-3A305D3FB128}"/>
              </a:ext>
            </a:extLst>
          </p:cNvPr>
          <p:cNvSpPr txBox="1"/>
          <p:nvPr/>
        </p:nvSpPr>
        <p:spPr>
          <a:xfrm>
            <a:off x="252211" y="1759745"/>
            <a:ext cx="4186439" cy="26161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1100" b="1" dirty="0"/>
              <a:t>Archee Arjun • Shivangi Priya • Mohd Sultan • Keshav Gupta</a:t>
            </a:r>
            <a:endParaRPr lang="en-IN" sz="1100" dirty="0"/>
          </a:p>
        </p:txBody>
      </p:sp>
      <p:sp>
        <p:nvSpPr>
          <p:cNvPr id="17" name="TextBox 16">
            <a:extLst>
              <a:ext uri="{FF2B5EF4-FFF2-40B4-BE49-F238E27FC236}">
                <a16:creationId xmlns:a16="http://schemas.microsoft.com/office/drawing/2014/main" id="{69AC5656-7F63-4449-661D-72825BEA23DB}"/>
              </a:ext>
            </a:extLst>
          </p:cNvPr>
          <p:cNvSpPr txBox="1"/>
          <p:nvPr/>
        </p:nvSpPr>
        <p:spPr>
          <a:xfrm>
            <a:off x="628650" y="2291436"/>
            <a:ext cx="3367697" cy="26161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Arial" panose="020B0604020202020204" pitchFamily="34" charset="0"/>
              </a:rPr>
              <a:t>Under the guidance of Professor Pravin Pawar</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581025" cy="244475"/>
          </a:xfrm>
          <a:prstGeom prst="rect">
            <a:avLst/>
          </a:prstGeom>
        </p:spPr>
        <p:txBody>
          <a:bodyPr vert="horz" wrap="square" lIns="0" tIns="17145" rIns="0" bIns="0" rtlCol="0">
            <a:spAutoFit/>
          </a:bodyPr>
          <a:lstStyle/>
          <a:p>
            <a:pPr marL="12700">
              <a:lnSpc>
                <a:spcPct val="100000"/>
              </a:lnSpc>
              <a:spcBef>
                <a:spcPts val="135"/>
              </a:spcBef>
            </a:pPr>
            <a:r>
              <a:rPr sz="1400" spc="-45" dirty="0">
                <a:solidFill>
                  <a:srgbClr val="FFFFFF"/>
                </a:solidFill>
                <a:latin typeface="Tahoma"/>
                <a:cs typeface="Tahoma"/>
              </a:rPr>
              <a:t>Agenda</a:t>
            </a:r>
            <a:endParaRPr sz="1400" dirty="0">
              <a:latin typeface="Tahoma"/>
              <a:cs typeface="Tahoma"/>
            </a:endParaRPr>
          </a:p>
        </p:txBody>
      </p:sp>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2" name="object 12"/>
          <p:cNvSpPr txBox="1"/>
          <p:nvPr/>
        </p:nvSpPr>
        <p:spPr>
          <a:xfrm>
            <a:off x="2215628" y="3346348"/>
            <a:ext cx="963930" cy="179536"/>
          </a:xfrm>
          <a:prstGeom prst="rect">
            <a:avLst/>
          </a:prstGeom>
        </p:spPr>
        <p:txBody>
          <a:bodyPr vert="horz" wrap="square" lIns="0" tIns="0" rIns="0" bIns="0" rtlCol="0">
            <a:spAutoFit/>
          </a:bodyPr>
          <a:lstStyle/>
          <a:p>
            <a:pPr marL="12700">
              <a:lnSpc>
                <a:spcPts val="675"/>
              </a:lnSpc>
            </a:pPr>
            <a:r>
              <a:rPr lang="en-US" sz="600" dirty="0">
                <a:solidFill>
                  <a:srgbClr val="FFFFFF"/>
                </a:solidFill>
                <a:latin typeface="Tahoma"/>
                <a:cs typeface="Tahoma"/>
              </a:rPr>
              <a:t>BharatVote</a:t>
            </a:r>
          </a:p>
          <a:p>
            <a:pPr marL="12700">
              <a:lnSpc>
                <a:spcPts val="675"/>
              </a:lnSpc>
            </a:pPr>
            <a:endParaRPr sz="600" dirty="0">
              <a:latin typeface="Tahoma"/>
              <a:cs typeface="Tahoma"/>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4" name="object 14"/>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2</a:t>
            </a:fld>
            <a:r>
              <a:rPr spc="-85" dirty="0"/>
              <a:t> </a:t>
            </a:r>
            <a:r>
              <a:rPr spc="90" dirty="0"/>
              <a:t>/</a:t>
            </a:r>
            <a:r>
              <a:rPr spc="-85" dirty="0"/>
              <a:t> </a:t>
            </a:r>
            <a:r>
              <a:rPr spc="-35" dirty="0"/>
              <a:t>1</a:t>
            </a:r>
            <a:r>
              <a:rPr lang="en-US" spc="-35" dirty="0"/>
              <a:t>9</a:t>
            </a:r>
            <a:endParaRPr spc="-35" dirty="0"/>
          </a:p>
        </p:txBody>
      </p:sp>
      <p:graphicFrame>
        <p:nvGraphicFramePr>
          <p:cNvPr id="18" name="Table 17">
            <a:extLst>
              <a:ext uri="{FF2B5EF4-FFF2-40B4-BE49-F238E27FC236}">
                <a16:creationId xmlns:a16="http://schemas.microsoft.com/office/drawing/2014/main" id="{D65E07D0-F898-5B96-74ED-C6405D3EDB5E}"/>
              </a:ext>
            </a:extLst>
          </p:cNvPr>
          <p:cNvGraphicFramePr>
            <a:graphicFrameLocks noGrp="1"/>
          </p:cNvGraphicFramePr>
          <p:nvPr>
            <p:extLst>
              <p:ext uri="{D42A27DB-BD31-4B8C-83A1-F6EECF244321}">
                <p14:modId xmlns:p14="http://schemas.microsoft.com/office/powerpoint/2010/main" val="1513465679"/>
              </p:ext>
            </p:extLst>
          </p:nvPr>
        </p:nvGraphicFramePr>
        <p:xfrm>
          <a:off x="1314450" y="562882"/>
          <a:ext cx="2184922" cy="2334985"/>
        </p:xfrm>
        <a:graphic>
          <a:graphicData uri="http://schemas.openxmlformats.org/drawingml/2006/table">
            <a:tbl>
              <a:tblPr>
                <a:tableStyleId>{0505E3EF-67EA-436B-97B2-0124C06EBD24}</a:tableStyleId>
              </a:tblPr>
              <a:tblGrid>
                <a:gridCol w="304800">
                  <a:extLst>
                    <a:ext uri="{9D8B030D-6E8A-4147-A177-3AD203B41FA5}">
                      <a16:colId xmlns:a16="http://schemas.microsoft.com/office/drawing/2014/main" val="69115198"/>
                    </a:ext>
                  </a:extLst>
                </a:gridCol>
                <a:gridCol w="1447800">
                  <a:extLst>
                    <a:ext uri="{9D8B030D-6E8A-4147-A177-3AD203B41FA5}">
                      <a16:colId xmlns:a16="http://schemas.microsoft.com/office/drawing/2014/main" val="4201464396"/>
                    </a:ext>
                  </a:extLst>
                </a:gridCol>
                <a:gridCol w="432322">
                  <a:extLst>
                    <a:ext uri="{9D8B030D-6E8A-4147-A177-3AD203B41FA5}">
                      <a16:colId xmlns:a16="http://schemas.microsoft.com/office/drawing/2014/main" val="2087507000"/>
                    </a:ext>
                  </a:extLst>
                </a:gridCol>
              </a:tblGrid>
              <a:tr h="314325">
                <a:tc>
                  <a:txBody>
                    <a:bodyPr/>
                    <a:lstStyle/>
                    <a:p>
                      <a:pPr algn="ctr"/>
                      <a:r>
                        <a:rPr lang="en-IN" sz="900" dirty="0"/>
                        <a:t>1</a:t>
                      </a:r>
                    </a:p>
                  </a:txBody>
                  <a:tcPr marL="17774" marR="17774" marT="8887" marB="8887" anchor="ctr"/>
                </a:tc>
                <a:tc>
                  <a:txBody>
                    <a:bodyPr/>
                    <a:lstStyle/>
                    <a:p>
                      <a:pPr algn="ctr"/>
                      <a:r>
                        <a:rPr lang="en-IN" sz="900" b="1"/>
                        <a:t>Introduction</a:t>
                      </a:r>
                      <a:endParaRPr lang="en-IN" sz="900"/>
                    </a:p>
                  </a:txBody>
                  <a:tcPr marL="17774" marR="17774" marT="8887" marB="8887" anchor="ctr"/>
                </a:tc>
                <a:tc>
                  <a:txBody>
                    <a:bodyPr/>
                    <a:lstStyle/>
                    <a:p>
                      <a:pPr algn="ctr"/>
                      <a:r>
                        <a:rPr lang="en-IN" sz="900" dirty="0"/>
                        <a:t>🧭</a:t>
                      </a:r>
                    </a:p>
                  </a:txBody>
                  <a:tcPr marL="17774" marR="17774" marT="8887" marB="8887" anchor="ctr"/>
                </a:tc>
                <a:extLst>
                  <a:ext uri="{0D108BD9-81ED-4DB2-BD59-A6C34878D82A}">
                    <a16:rowId xmlns:a16="http://schemas.microsoft.com/office/drawing/2014/main" val="546745808"/>
                  </a:ext>
                </a:extLst>
              </a:tr>
              <a:tr h="449035">
                <a:tc>
                  <a:txBody>
                    <a:bodyPr/>
                    <a:lstStyle/>
                    <a:p>
                      <a:pPr algn="ctr"/>
                      <a:r>
                        <a:rPr lang="en-IN" sz="900"/>
                        <a:t>2</a:t>
                      </a:r>
                    </a:p>
                  </a:txBody>
                  <a:tcPr marL="17774" marR="17774" marT="8887" marB="8887" anchor="ctr"/>
                </a:tc>
                <a:tc>
                  <a:txBody>
                    <a:bodyPr/>
                    <a:lstStyle/>
                    <a:p>
                      <a:pPr algn="ctr"/>
                      <a:r>
                        <a:rPr lang="en-IN" sz="900" b="1"/>
                        <a:t>Deliverables &amp; Study Outputs</a:t>
                      </a:r>
                      <a:endParaRPr lang="en-IN" sz="900"/>
                    </a:p>
                  </a:txBody>
                  <a:tcPr marL="17774" marR="17774" marT="8887" marB="8887" anchor="ctr"/>
                </a:tc>
                <a:tc>
                  <a:txBody>
                    <a:bodyPr/>
                    <a:lstStyle/>
                    <a:p>
                      <a:pPr algn="ctr"/>
                      <a:r>
                        <a:rPr lang="en-IN" sz="900" dirty="0"/>
                        <a:t>📄</a:t>
                      </a:r>
                    </a:p>
                  </a:txBody>
                  <a:tcPr marL="17774" marR="17774" marT="8887" marB="8887" anchor="ctr"/>
                </a:tc>
                <a:extLst>
                  <a:ext uri="{0D108BD9-81ED-4DB2-BD59-A6C34878D82A}">
                    <a16:rowId xmlns:a16="http://schemas.microsoft.com/office/drawing/2014/main" val="889316905"/>
                  </a:ext>
                </a:extLst>
              </a:tr>
              <a:tr h="314325">
                <a:tc>
                  <a:txBody>
                    <a:bodyPr/>
                    <a:lstStyle/>
                    <a:p>
                      <a:pPr algn="ctr"/>
                      <a:r>
                        <a:rPr lang="en-IN" sz="900"/>
                        <a:t>3</a:t>
                      </a:r>
                    </a:p>
                  </a:txBody>
                  <a:tcPr marL="17774" marR="17774" marT="8887" marB="8887" anchor="ctr"/>
                </a:tc>
                <a:tc>
                  <a:txBody>
                    <a:bodyPr/>
                    <a:lstStyle/>
                    <a:p>
                      <a:pPr algn="ctr"/>
                      <a:r>
                        <a:rPr lang="en-IN" sz="900" b="1"/>
                        <a:t>Existing Solutions</a:t>
                      </a:r>
                      <a:endParaRPr lang="en-IN" sz="900"/>
                    </a:p>
                  </a:txBody>
                  <a:tcPr marL="17774" marR="17774" marT="8887" marB="8887" anchor="ctr"/>
                </a:tc>
                <a:tc>
                  <a:txBody>
                    <a:bodyPr/>
                    <a:lstStyle/>
                    <a:p>
                      <a:pPr algn="ctr"/>
                      <a:r>
                        <a:rPr lang="en-IN" sz="900"/>
                        <a:t>🔍</a:t>
                      </a:r>
                    </a:p>
                  </a:txBody>
                  <a:tcPr marL="17774" marR="17774" marT="8887" marB="8887" anchor="ctr"/>
                </a:tc>
                <a:extLst>
                  <a:ext uri="{0D108BD9-81ED-4DB2-BD59-A6C34878D82A}">
                    <a16:rowId xmlns:a16="http://schemas.microsoft.com/office/drawing/2014/main" val="358142071"/>
                  </a:ext>
                </a:extLst>
              </a:tr>
              <a:tr h="314325">
                <a:tc>
                  <a:txBody>
                    <a:bodyPr/>
                    <a:lstStyle/>
                    <a:p>
                      <a:pPr algn="ctr"/>
                      <a:r>
                        <a:rPr lang="en-IN" sz="900"/>
                        <a:t>4</a:t>
                      </a:r>
                    </a:p>
                  </a:txBody>
                  <a:tcPr marL="17774" marR="17774" marT="8887" marB="8887" anchor="ctr"/>
                </a:tc>
                <a:tc>
                  <a:txBody>
                    <a:bodyPr/>
                    <a:lstStyle/>
                    <a:p>
                      <a:pPr algn="ctr"/>
                      <a:r>
                        <a:rPr lang="en-IN" sz="900" b="1"/>
                        <a:t>Core Features</a:t>
                      </a:r>
                      <a:endParaRPr lang="en-IN" sz="900"/>
                    </a:p>
                  </a:txBody>
                  <a:tcPr marL="17774" marR="17774" marT="8887" marB="8887" anchor="ctr"/>
                </a:tc>
                <a:tc>
                  <a:txBody>
                    <a:bodyPr/>
                    <a:lstStyle/>
                    <a:p>
                      <a:pPr algn="ctr"/>
                      <a:r>
                        <a:rPr lang="en-IN" sz="900" dirty="0"/>
                        <a:t>⚙️</a:t>
                      </a:r>
                    </a:p>
                  </a:txBody>
                  <a:tcPr marL="17774" marR="17774" marT="8887" marB="8887" anchor="ctr"/>
                </a:tc>
                <a:extLst>
                  <a:ext uri="{0D108BD9-81ED-4DB2-BD59-A6C34878D82A}">
                    <a16:rowId xmlns:a16="http://schemas.microsoft.com/office/drawing/2014/main" val="3677792997"/>
                  </a:ext>
                </a:extLst>
              </a:tr>
              <a:tr h="314325">
                <a:tc>
                  <a:txBody>
                    <a:bodyPr/>
                    <a:lstStyle/>
                    <a:p>
                      <a:pPr algn="ctr"/>
                      <a:r>
                        <a:rPr lang="en-IN" sz="900"/>
                        <a:t>5</a:t>
                      </a:r>
                    </a:p>
                  </a:txBody>
                  <a:tcPr marL="17774" marR="17774" marT="8887" marB="8887" anchor="ctr"/>
                </a:tc>
                <a:tc>
                  <a:txBody>
                    <a:bodyPr/>
                    <a:lstStyle/>
                    <a:p>
                      <a:pPr algn="ctr"/>
                      <a:r>
                        <a:rPr lang="en-IN" sz="900" b="1"/>
                        <a:t>Methodology &amp; Stack</a:t>
                      </a:r>
                      <a:endParaRPr lang="en-IN" sz="900"/>
                    </a:p>
                  </a:txBody>
                  <a:tcPr marL="17774" marR="17774" marT="8887" marB="8887" anchor="ctr"/>
                </a:tc>
                <a:tc>
                  <a:txBody>
                    <a:bodyPr/>
                    <a:lstStyle/>
                    <a:p>
                      <a:pPr algn="ctr"/>
                      <a:r>
                        <a:rPr lang="en-IN" sz="900"/>
                        <a:t>🛠️</a:t>
                      </a:r>
                    </a:p>
                  </a:txBody>
                  <a:tcPr marL="17774" marR="17774" marT="8887" marB="8887" anchor="ctr"/>
                </a:tc>
                <a:extLst>
                  <a:ext uri="{0D108BD9-81ED-4DB2-BD59-A6C34878D82A}">
                    <a16:rowId xmlns:a16="http://schemas.microsoft.com/office/drawing/2014/main" val="2565250984"/>
                  </a:ext>
                </a:extLst>
              </a:tr>
              <a:tr h="314325">
                <a:tc>
                  <a:txBody>
                    <a:bodyPr/>
                    <a:lstStyle/>
                    <a:p>
                      <a:pPr algn="ctr"/>
                      <a:r>
                        <a:rPr lang="en-IN" sz="900"/>
                        <a:t>6</a:t>
                      </a:r>
                    </a:p>
                  </a:txBody>
                  <a:tcPr marL="17774" marR="17774" marT="8887" marB="8887" anchor="ctr"/>
                </a:tc>
                <a:tc>
                  <a:txBody>
                    <a:bodyPr/>
                    <a:lstStyle/>
                    <a:p>
                      <a:pPr algn="ctr"/>
                      <a:r>
                        <a:rPr lang="en-IN" sz="900" b="1"/>
                        <a:t>Architecture</a:t>
                      </a:r>
                      <a:endParaRPr lang="en-IN" sz="900"/>
                    </a:p>
                  </a:txBody>
                  <a:tcPr marL="17774" marR="17774" marT="8887" marB="8887" anchor="ctr"/>
                </a:tc>
                <a:tc>
                  <a:txBody>
                    <a:bodyPr/>
                    <a:lstStyle/>
                    <a:p>
                      <a:pPr algn="ctr"/>
                      <a:r>
                        <a:rPr lang="en-IN" sz="900"/>
                        <a:t>🏗️</a:t>
                      </a:r>
                    </a:p>
                  </a:txBody>
                  <a:tcPr marL="17774" marR="17774" marT="8887" marB="8887" anchor="ctr"/>
                </a:tc>
                <a:extLst>
                  <a:ext uri="{0D108BD9-81ED-4DB2-BD59-A6C34878D82A}">
                    <a16:rowId xmlns:a16="http://schemas.microsoft.com/office/drawing/2014/main" val="324202732"/>
                  </a:ext>
                </a:extLst>
              </a:tr>
              <a:tr h="314325">
                <a:tc>
                  <a:txBody>
                    <a:bodyPr/>
                    <a:lstStyle/>
                    <a:p>
                      <a:pPr algn="ctr"/>
                      <a:r>
                        <a:rPr lang="en-IN" sz="900"/>
                        <a:t>7</a:t>
                      </a:r>
                    </a:p>
                  </a:txBody>
                  <a:tcPr marL="17774" marR="17774" marT="8887" marB="8887" anchor="ctr"/>
                </a:tc>
                <a:tc>
                  <a:txBody>
                    <a:bodyPr/>
                    <a:lstStyle/>
                    <a:p>
                      <a:pPr algn="ctr"/>
                      <a:r>
                        <a:rPr lang="en-IN" sz="900" b="1"/>
                        <a:t>Roadmap &amp; Team Roles</a:t>
                      </a:r>
                      <a:endParaRPr lang="en-IN" sz="900"/>
                    </a:p>
                  </a:txBody>
                  <a:tcPr marL="17774" marR="17774" marT="8887" marB="8887" anchor="ctr"/>
                </a:tc>
                <a:tc>
                  <a:txBody>
                    <a:bodyPr/>
                    <a:lstStyle/>
                    <a:p>
                      <a:pPr algn="ctr"/>
                      <a:r>
                        <a:rPr lang="en-IN" sz="900" dirty="0"/>
                        <a:t>🗺️ 👥</a:t>
                      </a:r>
                    </a:p>
                  </a:txBody>
                  <a:tcPr marL="17774" marR="17774" marT="8887" marB="8887" anchor="ctr"/>
                </a:tc>
                <a:extLst>
                  <a:ext uri="{0D108BD9-81ED-4DB2-BD59-A6C34878D82A}">
                    <a16:rowId xmlns:a16="http://schemas.microsoft.com/office/drawing/2014/main" val="1785675636"/>
                  </a:ext>
                </a:extLst>
              </a:tr>
            </a:tbl>
          </a:graphicData>
        </a:graphic>
      </p:graphicFrame>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934085" cy="244475"/>
          </a:xfrm>
          <a:prstGeom prst="rect">
            <a:avLst/>
          </a:prstGeom>
        </p:spPr>
        <p:txBody>
          <a:bodyPr vert="horz" wrap="square" lIns="0" tIns="17145" rIns="0" bIns="0" rtlCol="0">
            <a:spAutoFit/>
          </a:bodyPr>
          <a:lstStyle/>
          <a:p>
            <a:pPr marL="12700">
              <a:lnSpc>
                <a:spcPct val="100000"/>
              </a:lnSpc>
              <a:spcBef>
                <a:spcPts val="135"/>
              </a:spcBef>
            </a:pPr>
            <a:r>
              <a:rPr sz="1400" spc="-35" dirty="0">
                <a:solidFill>
                  <a:srgbClr val="FFFFFF"/>
                </a:solidFill>
                <a:latin typeface="Tahoma"/>
                <a:cs typeface="Tahoma"/>
              </a:rPr>
              <a:t>Introduction</a:t>
            </a:r>
            <a:endParaRPr sz="1400" dirty="0">
              <a:latin typeface="Tahoma"/>
              <a:cs typeface="Tahoma"/>
            </a:endParaRPr>
          </a:p>
        </p:txBody>
      </p:sp>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1" name="object 11"/>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sz="600" dirty="0">
              <a:latin typeface="Tahoma"/>
              <a:cs typeface="Tahoma"/>
            </a:endParaRPr>
          </a:p>
        </p:txBody>
      </p:sp>
      <p:sp>
        <p:nvSpPr>
          <p:cNvPr id="12" name="object 12"/>
          <p:cNvSpPr txBox="1">
            <a:spLocks noGrp="1"/>
          </p:cNvSpPr>
          <p:nvPr>
            <p:ph type="ftr" sz="quarter" idx="5"/>
          </p:nvPr>
        </p:nvSpPr>
        <p:spPr>
          <a:xfrm>
            <a:off x="3455327" y="3351784"/>
            <a:ext cx="541020" cy="89768"/>
          </a:xfrm>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3" name="object 13"/>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3</a:t>
            </a:fld>
            <a:r>
              <a:rPr spc="-85" dirty="0"/>
              <a:t> </a:t>
            </a:r>
            <a:r>
              <a:rPr spc="90" dirty="0"/>
              <a:t>/</a:t>
            </a:r>
            <a:r>
              <a:rPr spc="-85" dirty="0"/>
              <a:t> </a:t>
            </a:r>
            <a:r>
              <a:rPr spc="-35" dirty="0"/>
              <a:t>1</a:t>
            </a:r>
            <a:r>
              <a:rPr lang="en-US" spc="-35" dirty="0"/>
              <a:t>9</a:t>
            </a:r>
            <a:endParaRPr spc="-35" dirty="0"/>
          </a:p>
        </p:txBody>
      </p:sp>
      <p:sp>
        <p:nvSpPr>
          <p:cNvPr id="4" name="Rectangle 2">
            <a:extLst>
              <a:ext uri="{FF2B5EF4-FFF2-40B4-BE49-F238E27FC236}">
                <a16:creationId xmlns:a16="http://schemas.microsoft.com/office/drawing/2014/main" id="{8B551B6B-99D6-7BC0-3FE0-68EA28A65810}"/>
              </a:ext>
            </a:extLst>
          </p:cNvPr>
          <p:cNvSpPr>
            <a:spLocks noChangeArrowheads="1"/>
          </p:cNvSpPr>
          <p:nvPr/>
        </p:nvSpPr>
        <p:spPr bwMode="auto">
          <a:xfrm>
            <a:off x="-56775" y="334154"/>
            <a:ext cx="46101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7" name="TextBox 16">
            <a:extLst>
              <a:ext uri="{FF2B5EF4-FFF2-40B4-BE49-F238E27FC236}">
                <a16:creationId xmlns:a16="http://schemas.microsoft.com/office/drawing/2014/main" id="{C47E4977-BDE0-8AC9-3735-BE8FB9476505}"/>
              </a:ext>
            </a:extLst>
          </p:cNvPr>
          <p:cNvSpPr txBox="1"/>
          <p:nvPr/>
        </p:nvSpPr>
        <p:spPr>
          <a:xfrm>
            <a:off x="546521" y="2491918"/>
            <a:ext cx="3850753" cy="70788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800" b="1" dirty="0"/>
              <a:t>👥 Who is BharatVote For?</a:t>
            </a:r>
          </a:p>
          <a:p>
            <a:pPr algn="ctr"/>
            <a:endParaRPr lang="en-US" sz="800" b="1" dirty="0"/>
          </a:p>
          <a:p>
            <a:r>
              <a:rPr lang="en-US" sz="800" b="1" dirty="0"/>
              <a:t>Voters</a:t>
            </a:r>
            <a:r>
              <a:rPr lang="en-US" sz="800" dirty="0"/>
              <a:t> – Participants in campus, housing, or local municipal elections</a:t>
            </a:r>
          </a:p>
          <a:p>
            <a:r>
              <a:rPr lang="en-US" sz="800" b="1" dirty="0"/>
              <a:t>Election Administrators</a:t>
            </a:r>
            <a:r>
              <a:rPr lang="en-US" sz="800" dirty="0"/>
              <a:t> – Organizers managing small, community-based elections</a:t>
            </a:r>
          </a:p>
          <a:p>
            <a:r>
              <a:rPr lang="en-US" sz="800" b="1" dirty="0"/>
              <a:t>Auditors</a:t>
            </a:r>
            <a:r>
              <a:rPr lang="en-US" sz="800" dirty="0"/>
              <a:t> – Reviewers ensuring fairness in trusted, small-scale setups</a:t>
            </a:r>
          </a:p>
        </p:txBody>
      </p:sp>
      <p:sp>
        <p:nvSpPr>
          <p:cNvPr id="3" name="Rectangle 2">
            <a:extLst>
              <a:ext uri="{FF2B5EF4-FFF2-40B4-BE49-F238E27FC236}">
                <a16:creationId xmlns:a16="http://schemas.microsoft.com/office/drawing/2014/main" id="{BF79964D-0AF9-19FC-C203-8458289B9896}"/>
              </a:ext>
            </a:extLst>
          </p:cNvPr>
          <p:cNvSpPr/>
          <p:nvPr/>
        </p:nvSpPr>
        <p:spPr>
          <a:xfrm>
            <a:off x="710006" y="379981"/>
            <a:ext cx="3505200" cy="70788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N" dirty="0"/>
          </a:p>
        </p:txBody>
      </p:sp>
      <p:sp>
        <p:nvSpPr>
          <p:cNvPr id="14" name="TextBox 13">
            <a:extLst>
              <a:ext uri="{FF2B5EF4-FFF2-40B4-BE49-F238E27FC236}">
                <a16:creationId xmlns:a16="http://schemas.microsoft.com/office/drawing/2014/main" id="{B36E9253-4245-043D-8D07-5106CA603A73}"/>
              </a:ext>
            </a:extLst>
          </p:cNvPr>
          <p:cNvSpPr txBox="1"/>
          <p:nvPr/>
        </p:nvSpPr>
        <p:spPr>
          <a:xfrm>
            <a:off x="781051" y="344554"/>
            <a:ext cx="3500262" cy="784830"/>
          </a:xfrm>
          <a:prstGeom prst="rect">
            <a:avLst/>
          </a:prstGeom>
          <a:noFill/>
        </p:spPr>
        <p:txBody>
          <a:bodyPr wrap="square" rtlCol="0">
            <a:spAutoFit/>
          </a:bodyPr>
          <a:lstStyle/>
          <a:p>
            <a:pPr algn="ctr">
              <a:buNone/>
            </a:pPr>
            <a:r>
              <a:rPr lang="en-US" sz="800" b="1" dirty="0"/>
              <a:t>🔒 What is BharatVote?</a:t>
            </a:r>
          </a:p>
          <a:p>
            <a:pPr algn="ctr">
              <a:buNone/>
            </a:pPr>
            <a:endParaRPr lang="en-US" sz="800" b="1" dirty="0"/>
          </a:p>
          <a:p>
            <a:pPr marL="171450" indent="-171450">
              <a:buFont typeface="Arial" panose="020B0604020202020204" pitchFamily="34" charset="0"/>
              <a:buChar char="•"/>
            </a:pPr>
            <a:r>
              <a:rPr lang="en-US" sz="700" dirty="0"/>
              <a:t>BharatVote is a </a:t>
            </a:r>
            <a:r>
              <a:rPr lang="en-US" sz="700" b="1" dirty="0"/>
              <a:t>secure, remote voting prototype</a:t>
            </a:r>
            <a:r>
              <a:rPr lang="en-US" sz="700" dirty="0"/>
              <a:t> designed for web and mobile platforms. It uses </a:t>
            </a:r>
            <a:r>
              <a:rPr lang="en-US" sz="700" b="1" dirty="0"/>
              <a:t>blockchain</a:t>
            </a:r>
            <a:r>
              <a:rPr lang="en-US" sz="700" dirty="0"/>
              <a:t> and </a:t>
            </a:r>
            <a:r>
              <a:rPr lang="en-US" sz="700" b="1" dirty="0"/>
              <a:t>commit–reveal cryptography</a:t>
            </a:r>
            <a:r>
              <a:rPr lang="en-US" sz="700" dirty="0"/>
              <a:t> to ensure tamper-proof, verifiable, and privacy-preserving elections.</a:t>
            </a:r>
          </a:p>
          <a:p>
            <a:endParaRPr lang="en-IN" sz="800" dirty="0"/>
          </a:p>
        </p:txBody>
      </p:sp>
      <p:sp>
        <p:nvSpPr>
          <p:cNvPr id="15" name="Rectangle 14">
            <a:extLst>
              <a:ext uri="{FF2B5EF4-FFF2-40B4-BE49-F238E27FC236}">
                <a16:creationId xmlns:a16="http://schemas.microsoft.com/office/drawing/2014/main" id="{E29644B1-BBB2-D969-5A77-B11BF6C402F8}"/>
              </a:ext>
            </a:extLst>
          </p:cNvPr>
          <p:cNvSpPr/>
          <p:nvPr/>
        </p:nvSpPr>
        <p:spPr>
          <a:xfrm>
            <a:off x="443305" y="1170089"/>
            <a:ext cx="4038600" cy="117528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ADD8831E-F05A-D5E6-5422-59AE95F661DC}"/>
              </a:ext>
            </a:extLst>
          </p:cNvPr>
          <p:cNvSpPr txBox="1"/>
          <p:nvPr/>
        </p:nvSpPr>
        <p:spPr>
          <a:xfrm>
            <a:off x="450850" y="1232235"/>
            <a:ext cx="3975475" cy="1061829"/>
          </a:xfrm>
          <a:prstGeom prst="rect">
            <a:avLst/>
          </a:prstGeom>
          <a:noFill/>
        </p:spPr>
        <p:txBody>
          <a:bodyPr wrap="square" rtlCol="0">
            <a:spAutoFit/>
          </a:bodyPr>
          <a:lstStyle/>
          <a:p>
            <a:pPr algn="ctr">
              <a:buNone/>
            </a:pPr>
            <a:r>
              <a:rPr lang="en-US" sz="700" b="1" dirty="0"/>
              <a:t>🗂️ Scope of the Study Project (3 Months)</a:t>
            </a:r>
          </a:p>
          <a:p>
            <a:pPr algn="ctr">
              <a:buNone/>
            </a:pPr>
            <a:endParaRPr lang="en-US" sz="700" b="1" dirty="0"/>
          </a:p>
          <a:p>
            <a:pPr>
              <a:buNone/>
            </a:pPr>
            <a:r>
              <a:rPr lang="en-US" sz="700" dirty="0"/>
              <a:t>This presentation summarizes the outcomes of our study-focused work, which included:</a:t>
            </a:r>
          </a:p>
          <a:p>
            <a:pPr>
              <a:buNone/>
            </a:pPr>
            <a:endParaRPr lang="en-US" sz="700" dirty="0"/>
          </a:p>
          <a:p>
            <a:pPr>
              <a:buFont typeface="Arial" panose="020B0604020202020204" pitchFamily="34" charset="0"/>
              <a:buChar char="•"/>
            </a:pPr>
            <a:r>
              <a:rPr lang="en-US" sz="700" b="1" dirty="0"/>
              <a:t>Phase 1 – Proposal</a:t>
            </a:r>
            <a:r>
              <a:rPr lang="en-US" sz="700" dirty="0"/>
              <a:t>: Core idea, motivation, and project goals</a:t>
            </a:r>
          </a:p>
          <a:p>
            <a:pPr>
              <a:buFont typeface="Arial" panose="020B0604020202020204" pitchFamily="34" charset="0"/>
              <a:buChar char="•"/>
            </a:pPr>
            <a:r>
              <a:rPr lang="en-US" sz="700" b="1" dirty="0"/>
              <a:t>Phase 2 – SRS</a:t>
            </a:r>
            <a:r>
              <a:rPr lang="en-US" sz="700" dirty="0"/>
              <a:t>: Functional and non-functional requirements</a:t>
            </a:r>
          </a:p>
          <a:p>
            <a:pPr>
              <a:buFont typeface="Arial" panose="020B0604020202020204" pitchFamily="34" charset="0"/>
              <a:buChar char="•"/>
            </a:pPr>
            <a:r>
              <a:rPr lang="en-US" sz="700" b="1" dirty="0"/>
              <a:t>Phase 3 – Technical Design</a:t>
            </a:r>
            <a:r>
              <a:rPr lang="en-US" sz="700" dirty="0"/>
              <a:t>: Architecture, UI mock-ups, workflows, and test plan</a:t>
            </a:r>
          </a:p>
          <a:p>
            <a:endParaRPr lang="en-US" sz="700" b="1" dirty="0"/>
          </a:p>
          <a:p>
            <a:r>
              <a:rPr lang="en-US" sz="700" b="1" dirty="0"/>
              <a:t>🎯 Goal:</a:t>
            </a:r>
            <a:r>
              <a:rPr lang="en-US" sz="700" dirty="0"/>
              <a:t> </a:t>
            </a:r>
            <a:r>
              <a:rPr lang="en-US" sz="700" i="1" dirty="0"/>
              <a:t>Build a well-defined design plan to guide the actual implementation next semester.</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144081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FFFFFF"/>
                </a:solidFill>
                <a:latin typeface="Tahoma"/>
                <a:cs typeface="Tahoma"/>
              </a:rPr>
              <a:t>Problem</a:t>
            </a:r>
            <a:r>
              <a:rPr sz="1400" spc="-35" dirty="0">
                <a:solidFill>
                  <a:srgbClr val="FFFFFF"/>
                </a:solidFill>
                <a:latin typeface="Tahoma"/>
                <a:cs typeface="Tahoma"/>
              </a:rPr>
              <a:t> </a:t>
            </a:r>
            <a:r>
              <a:rPr sz="1400" spc="-40" dirty="0">
                <a:solidFill>
                  <a:srgbClr val="FFFFFF"/>
                </a:solidFill>
                <a:latin typeface="Tahoma"/>
                <a:cs typeface="Tahoma"/>
              </a:rPr>
              <a:t>statement</a:t>
            </a:r>
            <a:endParaRPr sz="1400" dirty="0">
              <a:latin typeface="Tahoma"/>
              <a:cs typeface="Tahoma"/>
            </a:endParaRPr>
          </a:p>
        </p:txBody>
      </p:sp>
      <p:grpSp>
        <p:nvGrpSpPr>
          <p:cNvPr id="5" name="object 5"/>
          <p:cNvGrpSpPr/>
          <p:nvPr/>
        </p:nvGrpSpPr>
        <p:grpSpPr>
          <a:xfrm>
            <a:off x="0" y="3346348"/>
            <a:ext cx="4608195" cy="109855"/>
            <a:chOff x="0" y="3346348"/>
            <a:chExt cx="4608195" cy="109855"/>
          </a:xfrm>
        </p:grpSpPr>
        <p:sp>
          <p:nvSpPr>
            <p:cNvPr id="6" name="object 6"/>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9" name="object 9"/>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1" name="object 11"/>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4</a:t>
            </a:fld>
            <a:r>
              <a:rPr spc="-85" dirty="0"/>
              <a:t> </a:t>
            </a:r>
            <a:r>
              <a:rPr spc="90" dirty="0"/>
              <a:t>/</a:t>
            </a:r>
            <a:r>
              <a:rPr spc="-85" dirty="0"/>
              <a:t> </a:t>
            </a:r>
            <a:r>
              <a:rPr spc="-35" dirty="0"/>
              <a:t>1</a:t>
            </a:r>
            <a:r>
              <a:rPr lang="en-US" spc="-35" dirty="0"/>
              <a:t>9</a:t>
            </a:r>
            <a:endParaRPr spc="-35" dirty="0"/>
          </a:p>
        </p:txBody>
      </p:sp>
      <p:sp>
        <p:nvSpPr>
          <p:cNvPr id="3" name="Rectangle 1">
            <a:extLst>
              <a:ext uri="{FF2B5EF4-FFF2-40B4-BE49-F238E27FC236}">
                <a16:creationId xmlns:a16="http://schemas.microsoft.com/office/drawing/2014/main" id="{5042345D-BD4C-0975-F69A-72C3651C54A4}"/>
              </a:ext>
            </a:extLst>
          </p:cNvPr>
          <p:cNvSpPr>
            <a:spLocks noChangeArrowheads="1"/>
          </p:cNvSpPr>
          <p:nvPr/>
        </p:nvSpPr>
        <p:spPr bwMode="auto">
          <a:xfrm>
            <a:off x="360857" y="484677"/>
            <a:ext cx="3886200" cy="707886"/>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Arial" panose="020B0604020202020204" pitchFamily="34" charset="0"/>
              </a:rPr>
              <a:t>🎯 The Problem with Current Voting Systems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Institutions still rely on </a:t>
            </a:r>
            <a:r>
              <a:rPr kumimoji="0" lang="en-US" altLang="en-US" sz="800" b="1" i="0" u="none" strike="noStrike" cap="none" normalizeH="0" baseline="0" dirty="0">
                <a:ln>
                  <a:noFill/>
                </a:ln>
                <a:solidFill>
                  <a:schemeClr val="tx1"/>
                </a:solidFill>
                <a:effectLst/>
                <a:latin typeface="Arial" panose="020B0604020202020204" pitchFamily="34" charset="0"/>
              </a:rPr>
              <a:t>hardware-heavy</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800" b="1" i="0" u="none" strike="noStrike" cap="none" normalizeH="0" baseline="0" dirty="0">
                <a:ln>
                  <a:noFill/>
                </a:ln>
                <a:solidFill>
                  <a:schemeClr val="tx1"/>
                </a:solidFill>
                <a:effectLst/>
                <a:latin typeface="Arial" panose="020B0604020202020204" pitchFamily="34" charset="0"/>
              </a:rPr>
              <a:t>non-verifiable</a:t>
            </a:r>
            <a:r>
              <a:rPr kumimoji="0" lang="en-US" altLang="en-US" sz="800" b="0" i="0" u="none" strike="noStrike" cap="none" normalizeH="0" baseline="0" dirty="0">
                <a:ln>
                  <a:noFill/>
                </a:ln>
                <a:solidFill>
                  <a:schemeClr val="tx1"/>
                </a:solidFill>
                <a:effectLst/>
                <a:latin typeface="Arial" panose="020B0604020202020204" pitchFamily="34" charset="0"/>
              </a:rPr>
              <a:t>, and </a:t>
            </a:r>
            <a:r>
              <a:rPr kumimoji="0" lang="en-US" altLang="en-US" sz="800" b="1" i="0" u="none" strike="noStrike" cap="none" normalizeH="0" baseline="0" dirty="0">
                <a:ln>
                  <a:noFill/>
                </a:ln>
                <a:solidFill>
                  <a:schemeClr val="tx1"/>
                </a:solidFill>
                <a:effectLst/>
                <a:latin typeface="Arial" panose="020B0604020202020204" pitchFamily="34" charset="0"/>
              </a:rPr>
              <a:t>physically restrictive</a:t>
            </a:r>
            <a:r>
              <a:rPr kumimoji="0" lang="en-US" altLang="en-US" sz="800" b="0" i="0" u="none" strike="noStrike" cap="none" normalizeH="0" baseline="0" dirty="0">
                <a:ln>
                  <a:noFill/>
                </a:ln>
                <a:solidFill>
                  <a:schemeClr val="tx1"/>
                </a:solidFill>
                <a:effectLst/>
                <a:latin typeface="Arial" panose="020B0604020202020204" pitchFamily="34" charset="0"/>
              </a:rPr>
              <a:t> voting systems like EVMs + VVPATs — which aren’t built for remote or academic use.</a:t>
            </a:r>
          </a:p>
        </p:txBody>
      </p:sp>
      <p:sp>
        <p:nvSpPr>
          <p:cNvPr id="14" name="TextBox 13">
            <a:extLst>
              <a:ext uri="{FF2B5EF4-FFF2-40B4-BE49-F238E27FC236}">
                <a16:creationId xmlns:a16="http://schemas.microsoft.com/office/drawing/2014/main" id="{805A0EB7-F121-8456-C9D5-B4239D5DF5CC}"/>
              </a:ext>
            </a:extLst>
          </p:cNvPr>
          <p:cNvSpPr txBox="1"/>
          <p:nvPr/>
        </p:nvSpPr>
        <p:spPr>
          <a:xfrm>
            <a:off x="360857" y="1443694"/>
            <a:ext cx="38862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Key Pain Points:</a:t>
            </a:r>
          </a:p>
          <a:p>
            <a:endParaRPr lang="en-US" sz="900" dirty="0"/>
          </a:p>
          <a:p>
            <a:r>
              <a:rPr lang="en-US" sz="900" dirty="0"/>
              <a:t>Opaque voting, insider tampering risks, no remote access, and hardware too costly for campuses.</a:t>
            </a:r>
            <a:endParaRPr lang="en-IN" sz="900" dirty="0"/>
          </a:p>
        </p:txBody>
      </p:sp>
      <p:sp>
        <p:nvSpPr>
          <p:cNvPr id="16" name="TextBox 15">
            <a:extLst>
              <a:ext uri="{FF2B5EF4-FFF2-40B4-BE49-F238E27FC236}">
                <a16:creationId xmlns:a16="http://schemas.microsoft.com/office/drawing/2014/main" id="{7477137E-6756-20E1-86C5-590808C7A706}"/>
              </a:ext>
            </a:extLst>
          </p:cNvPr>
          <p:cNvSpPr txBox="1"/>
          <p:nvPr/>
        </p:nvSpPr>
        <p:spPr>
          <a:xfrm>
            <a:off x="360857" y="2233438"/>
            <a:ext cx="3865493"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buNone/>
            </a:pPr>
            <a:r>
              <a:rPr lang="en-US" sz="900" b="1" dirty="0"/>
              <a:t>✅ Our Aim</a:t>
            </a:r>
          </a:p>
          <a:p>
            <a:pPr algn="ctr">
              <a:buNone/>
            </a:pPr>
            <a:endParaRPr lang="en-US" sz="900" b="1" dirty="0"/>
          </a:p>
          <a:p>
            <a:r>
              <a:rPr lang="en-US" sz="900" dirty="0"/>
              <a:t>To design a </a:t>
            </a:r>
            <a:r>
              <a:rPr lang="en-US" sz="900" b="1" dirty="0"/>
              <a:t>simple, auditable, remote-friendly voting prototype</a:t>
            </a:r>
            <a:br>
              <a:rPr lang="en-US" sz="900" dirty="0"/>
            </a:br>
            <a:r>
              <a:rPr lang="en-US" sz="900" dirty="0"/>
              <a:t>that solves these issues using </a:t>
            </a:r>
            <a:r>
              <a:rPr lang="en-US" sz="900" b="1" dirty="0"/>
              <a:t>blockchain</a:t>
            </a:r>
            <a:r>
              <a:rPr lang="en-US" sz="900" dirty="0"/>
              <a:t> and </a:t>
            </a:r>
            <a:r>
              <a:rPr lang="en-US" sz="900" b="1" dirty="0"/>
              <a:t>cryptography</a:t>
            </a:r>
            <a:r>
              <a:rPr lang="en-US" sz="900" dirty="0"/>
              <a:t>,</a:t>
            </a:r>
            <a:br>
              <a:rPr lang="en-US" sz="900" dirty="0"/>
            </a:br>
            <a:r>
              <a:rPr lang="en-US" sz="900" dirty="0"/>
              <a:t>without relying on expensive equipment.</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904875" cy="244475"/>
          </a:xfrm>
          <a:prstGeom prst="rect">
            <a:avLst/>
          </a:prstGeom>
        </p:spPr>
        <p:txBody>
          <a:bodyPr vert="horz" wrap="square" lIns="0" tIns="17145" rIns="0" bIns="0" rtlCol="0">
            <a:spAutoFit/>
          </a:bodyPr>
          <a:lstStyle/>
          <a:p>
            <a:pPr marL="12700">
              <a:lnSpc>
                <a:spcPct val="100000"/>
              </a:lnSpc>
              <a:spcBef>
                <a:spcPts val="135"/>
              </a:spcBef>
            </a:pPr>
            <a:r>
              <a:rPr sz="1400" spc="-50" dirty="0">
                <a:solidFill>
                  <a:srgbClr val="FFFFFF"/>
                </a:solidFill>
                <a:latin typeface="Tahoma"/>
                <a:cs typeface="Tahoma"/>
              </a:rPr>
              <a:t>Deliverables</a:t>
            </a:r>
            <a:endParaRPr sz="1400" dirty="0">
              <a:latin typeface="Tahoma"/>
              <a:cs typeface="Tahoma"/>
            </a:endParaRPr>
          </a:p>
        </p:txBody>
      </p:sp>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8" name="object 8"/>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0" name="object 10"/>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5</a:t>
            </a:fld>
            <a:r>
              <a:rPr spc="-85" dirty="0"/>
              <a:t> </a:t>
            </a:r>
            <a:r>
              <a:rPr spc="90" dirty="0"/>
              <a:t>/</a:t>
            </a:r>
            <a:r>
              <a:rPr spc="-85" dirty="0"/>
              <a:t> </a:t>
            </a:r>
            <a:r>
              <a:rPr spc="-35" dirty="0"/>
              <a:t>1</a:t>
            </a:r>
            <a:r>
              <a:rPr lang="en-US" spc="-35" dirty="0"/>
              <a:t>9</a:t>
            </a:r>
            <a:endParaRPr spc="-35" dirty="0"/>
          </a:p>
        </p:txBody>
      </p:sp>
      <p:sp>
        <p:nvSpPr>
          <p:cNvPr id="11" name="Rectangle 1">
            <a:extLst>
              <a:ext uri="{FF2B5EF4-FFF2-40B4-BE49-F238E27FC236}">
                <a16:creationId xmlns:a16="http://schemas.microsoft.com/office/drawing/2014/main" id="{C38BB649-0E2F-BFA4-CC3B-D5EC561CEE87}"/>
              </a:ext>
            </a:extLst>
          </p:cNvPr>
          <p:cNvSpPr>
            <a:spLocks noChangeArrowheads="1"/>
          </p:cNvSpPr>
          <p:nvPr/>
        </p:nvSpPr>
        <p:spPr bwMode="auto">
          <a:xfrm>
            <a:off x="551210" y="593390"/>
            <a:ext cx="3558243" cy="1107996"/>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Study Project Submissions (This Semester)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Phase 1: Project Proposal</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Phase 2: SRS (Requirements Spec)</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Phase 3: Technical Design Document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Supporting assets: UML diagrams, OpenAPI spec, UI mock-ups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This presentation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197B3714-E9C4-3D58-0BBC-8FE41ABB6073}"/>
              </a:ext>
            </a:extLst>
          </p:cNvPr>
          <p:cNvSpPr>
            <a:spLocks noChangeArrowheads="1"/>
          </p:cNvSpPr>
          <p:nvPr/>
        </p:nvSpPr>
        <p:spPr bwMode="auto">
          <a:xfrm>
            <a:off x="551210" y="1882775"/>
            <a:ext cx="3558243" cy="877163"/>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Foundation for Next Semester (Prototype Phase)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Smart contracts (Solidity, </a:t>
            </a:r>
            <a:r>
              <a:rPr kumimoji="0" lang="en-US" altLang="en-US" sz="800" b="0" i="0" u="none" strike="noStrike" cap="none" normalizeH="0" baseline="0" dirty="0" err="1">
                <a:ln>
                  <a:noFill/>
                </a:ln>
                <a:solidFill>
                  <a:schemeClr val="tx1"/>
                </a:solidFill>
                <a:effectLst/>
                <a:latin typeface="Arial" panose="020B0604020202020204" pitchFamily="34" charset="0"/>
              </a:rPr>
              <a:t>Sepolia</a:t>
            </a:r>
            <a:r>
              <a:rPr kumimoji="0" lang="en-US" altLang="en-US" sz="800" b="0" i="0" u="none" strike="noStrike" cap="none" normalizeH="0" baseline="0" dirty="0">
                <a:ln>
                  <a:noFill/>
                </a:ln>
                <a:solidFill>
                  <a:schemeClr val="tx1"/>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Backend services (mock KYC, OTP, Merkle proof)</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Web &amp; mobile apps (React stack)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790575" cy="244475"/>
          </a:xfrm>
          <a:prstGeom prst="rect">
            <a:avLst/>
          </a:prstGeom>
        </p:spPr>
        <p:txBody>
          <a:bodyPr vert="horz" wrap="square" lIns="0" tIns="17145" rIns="0" bIns="0" rtlCol="0">
            <a:spAutoFit/>
          </a:bodyPr>
          <a:lstStyle/>
          <a:p>
            <a:pPr marL="12700">
              <a:lnSpc>
                <a:spcPct val="100000"/>
              </a:lnSpc>
              <a:spcBef>
                <a:spcPts val="135"/>
              </a:spcBef>
            </a:pPr>
            <a:r>
              <a:rPr sz="1400" spc="-60" dirty="0">
                <a:solidFill>
                  <a:srgbClr val="FFFFFF"/>
                </a:solidFill>
                <a:latin typeface="Tahoma"/>
                <a:cs typeface="Tahoma"/>
              </a:rPr>
              <a:t>Usefulness</a:t>
            </a:r>
            <a:endParaRPr sz="1400" dirty="0">
              <a:latin typeface="Tahoma"/>
              <a:cs typeface="Tahoma"/>
            </a:endParaRPr>
          </a:p>
        </p:txBody>
      </p:sp>
      <p:grpSp>
        <p:nvGrpSpPr>
          <p:cNvPr id="5" name="object 5"/>
          <p:cNvGrpSpPr/>
          <p:nvPr/>
        </p:nvGrpSpPr>
        <p:grpSpPr>
          <a:xfrm>
            <a:off x="0" y="3346348"/>
            <a:ext cx="4608195" cy="109855"/>
            <a:chOff x="0" y="3346348"/>
            <a:chExt cx="4608195" cy="109855"/>
          </a:xfrm>
        </p:grpSpPr>
        <p:sp>
          <p:nvSpPr>
            <p:cNvPr id="6" name="object 6"/>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9" name="object 9"/>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1" name="object 11"/>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6</a:t>
            </a:fld>
            <a:r>
              <a:rPr spc="-85" dirty="0"/>
              <a:t> </a:t>
            </a:r>
            <a:r>
              <a:rPr spc="90" dirty="0"/>
              <a:t>/</a:t>
            </a:r>
            <a:r>
              <a:rPr spc="-85" dirty="0"/>
              <a:t> </a:t>
            </a:r>
            <a:r>
              <a:rPr spc="-35" dirty="0"/>
              <a:t>1</a:t>
            </a:r>
            <a:r>
              <a:rPr lang="en-US" spc="-35" dirty="0"/>
              <a:t>9</a:t>
            </a:r>
            <a:endParaRPr spc="-35" dirty="0"/>
          </a:p>
        </p:txBody>
      </p:sp>
      <p:sp>
        <p:nvSpPr>
          <p:cNvPr id="13" name="Rectangle 3">
            <a:extLst>
              <a:ext uri="{FF2B5EF4-FFF2-40B4-BE49-F238E27FC236}">
                <a16:creationId xmlns:a16="http://schemas.microsoft.com/office/drawing/2014/main" id="{9BD02305-8169-F91D-44D1-E79E9090E06B}"/>
              </a:ext>
            </a:extLst>
          </p:cNvPr>
          <p:cNvSpPr>
            <a:spLocks noChangeArrowheads="1"/>
          </p:cNvSpPr>
          <p:nvPr/>
        </p:nvSpPr>
        <p:spPr bwMode="auto">
          <a:xfrm>
            <a:off x="203058" y="476510"/>
            <a:ext cx="4201791" cy="646331"/>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pPr>
            <a:r>
              <a:rPr kumimoji="0" lang="en-US" altLang="en-US" sz="700" b="1" i="0" u="none" strike="noStrike" cap="none" normalizeH="0" baseline="0" dirty="0">
                <a:ln>
                  <a:noFill/>
                </a:ln>
                <a:solidFill>
                  <a:schemeClr val="tx1"/>
                </a:solidFill>
                <a:effectLst/>
                <a:latin typeface="Arial" panose="020B0604020202020204" pitchFamily="34" charset="0"/>
              </a:rPr>
              <a:t>🌟 Why BharatVote Is Built for Small-Scale Elections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a:ln>
                  <a:noFill/>
                </a:ln>
                <a:solidFill>
                  <a:schemeClr val="tx1"/>
                </a:solidFill>
                <a:effectLst/>
                <a:latin typeface="Arial" panose="020B0604020202020204" pitchFamily="34" charset="0"/>
              </a:rPr>
              <a:t>India hosts thousands of </a:t>
            </a:r>
            <a:r>
              <a:rPr kumimoji="0" lang="en-US" altLang="en-US" sz="700" b="1" i="0" u="none" strike="noStrike" cap="none" normalizeH="0" baseline="0" dirty="0">
                <a:ln>
                  <a:noFill/>
                </a:ln>
                <a:solidFill>
                  <a:schemeClr val="tx1"/>
                </a:solidFill>
                <a:effectLst/>
                <a:latin typeface="Arial" panose="020B0604020202020204" pitchFamily="34" charset="0"/>
              </a:rPr>
              <a:t>small and mid-scale elections</a:t>
            </a:r>
            <a:r>
              <a:rPr kumimoji="0" lang="en-US" altLang="en-US" sz="700" b="0" i="0" u="none" strike="noStrike" cap="none" normalizeH="0" baseline="0" dirty="0">
                <a:ln>
                  <a:noFill/>
                </a:ln>
                <a:solidFill>
                  <a:schemeClr val="tx1"/>
                </a:solidFill>
                <a:effectLst/>
                <a:latin typeface="Arial" panose="020B0604020202020204" pitchFamily="34" charset="0"/>
              </a:rPr>
              <a:t> — campus councils, union elections, professional body polls — often </a:t>
            </a:r>
            <a:r>
              <a:rPr kumimoji="0" lang="en-US" altLang="en-US" sz="700" b="1" i="0" u="none" strike="noStrike" cap="none" normalizeH="0" baseline="0" dirty="0">
                <a:ln>
                  <a:noFill/>
                </a:ln>
                <a:solidFill>
                  <a:schemeClr val="tx1"/>
                </a:solidFill>
                <a:effectLst/>
                <a:latin typeface="Arial" panose="020B0604020202020204" pitchFamily="34" charset="0"/>
              </a:rPr>
              <a:t>run manually by a handful of officials</a:t>
            </a:r>
            <a:r>
              <a:rPr kumimoji="0" lang="en-US" altLang="en-US" sz="700" b="0" i="0" u="none" strike="noStrike" cap="none" normalizeH="0" baseline="0" dirty="0">
                <a:ln>
                  <a:noFill/>
                </a:ln>
                <a:solidFill>
                  <a:schemeClr val="tx1"/>
                </a:solidFill>
                <a:effectLst/>
                <a:latin typeface="Arial" panose="020B0604020202020204" pitchFamily="34" charset="0"/>
              </a:rPr>
              <a:t> under immense pressure.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dirty="0">
                <a:ln>
                  <a:noFill/>
                </a:ln>
                <a:solidFill>
                  <a:schemeClr val="tx1"/>
                </a:solidFill>
                <a:effectLst/>
                <a:latin typeface="Arial" panose="020B0604020202020204" pitchFamily="34" charset="0"/>
              </a:rPr>
              <a:t>BharatVote replaces manpower-intensive voting with cryptographic trust</a:t>
            </a:r>
            <a:r>
              <a:rPr kumimoji="0" lang="en-US" altLang="en-US" sz="800" b="1" i="0" u="none" strike="noStrike" cap="none" normalizeH="0" baseline="0" dirty="0">
                <a:ln>
                  <a:noFill/>
                </a:ln>
                <a:solidFill>
                  <a:schemeClr val="tx1"/>
                </a:solidFill>
                <a:effectLst/>
                <a:latin typeface="Arial" panose="020B0604020202020204" pitchFamily="34" charset="0"/>
              </a:rPr>
              <a:t>.</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230B8D8F-3CD9-F70F-7091-8CF5F86157C1}"/>
              </a:ext>
            </a:extLst>
          </p:cNvPr>
          <p:cNvSpPr>
            <a:spLocks noChangeArrowheads="1"/>
          </p:cNvSpPr>
          <p:nvPr/>
        </p:nvSpPr>
        <p:spPr bwMode="auto">
          <a:xfrm>
            <a:off x="203058" y="1265307"/>
            <a:ext cx="4201789" cy="954107"/>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dirty="0">
                <a:ln>
                  <a:noFill/>
                </a:ln>
                <a:solidFill>
                  <a:schemeClr val="tx1"/>
                </a:solidFill>
                <a:effectLst/>
                <a:latin typeface="Arial" panose="020B0604020202020204" pitchFamily="34" charset="0"/>
              </a:rPr>
              <a:t>🚀 What It Solves: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 </a:t>
            </a:r>
            <a:r>
              <a:rPr kumimoji="0" lang="en-US" altLang="en-US" sz="700" b="1" i="0" u="none" strike="noStrike" cap="none" normalizeH="0" baseline="0" dirty="0">
                <a:ln>
                  <a:noFill/>
                </a:ln>
                <a:solidFill>
                  <a:schemeClr val="tx1"/>
                </a:solidFill>
                <a:effectLst/>
                <a:latin typeface="Arial" panose="020B0604020202020204" pitchFamily="34" charset="0"/>
              </a:rPr>
              <a:t>Fewer boots, more trust</a:t>
            </a:r>
            <a:r>
              <a:rPr kumimoji="0" lang="en-US" altLang="en-US" sz="700" b="0" i="0" u="none" strike="noStrike" cap="none" normalizeH="0" baseline="0" dirty="0">
                <a:ln>
                  <a:noFill/>
                </a:ln>
                <a:solidFill>
                  <a:schemeClr val="tx1"/>
                </a:solidFill>
                <a:effectLst/>
                <a:latin typeface="Arial" panose="020B0604020202020204" pitchFamily="34" charset="0"/>
              </a:rPr>
              <a:t> – No need for dozens of officials; one admin controls the process digitally</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 </a:t>
            </a:r>
            <a:r>
              <a:rPr kumimoji="0" lang="en-US" altLang="en-US" sz="700" b="1" i="0" u="none" strike="noStrike" cap="none" normalizeH="0" baseline="0" dirty="0">
                <a:ln>
                  <a:noFill/>
                </a:ln>
                <a:solidFill>
                  <a:schemeClr val="tx1"/>
                </a:solidFill>
                <a:effectLst/>
                <a:latin typeface="Arial" panose="020B0604020202020204" pitchFamily="34" charset="0"/>
              </a:rPr>
              <a:t>No paper, no queues</a:t>
            </a:r>
            <a:r>
              <a:rPr kumimoji="0" lang="en-US" altLang="en-US" sz="700" b="0" i="0" u="none" strike="noStrike" cap="none" normalizeH="0" baseline="0" dirty="0">
                <a:ln>
                  <a:noFill/>
                </a:ln>
                <a:solidFill>
                  <a:schemeClr val="tx1"/>
                </a:solidFill>
                <a:effectLst/>
                <a:latin typeface="Arial" panose="020B0604020202020204" pitchFamily="34" charset="0"/>
              </a:rPr>
              <a:t> – Voters cast their ballot from any device, in minutes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 </a:t>
            </a:r>
            <a:r>
              <a:rPr kumimoji="0" lang="en-US" altLang="en-US" sz="700" b="1" i="0" u="none" strike="noStrike" cap="none" normalizeH="0" baseline="0" dirty="0">
                <a:ln>
                  <a:noFill/>
                </a:ln>
                <a:solidFill>
                  <a:schemeClr val="tx1"/>
                </a:solidFill>
                <a:effectLst/>
                <a:latin typeface="Arial" panose="020B0604020202020204" pitchFamily="34" charset="0"/>
              </a:rPr>
              <a:t>No confusion, no disputes</a:t>
            </a:r>
            <a:r>
              <a:rPr kumimoji="0" lang="en-US" altLang="en-US" sz="700" b="0" i="0" u="none" strike="noStrike" cap="none" normalizeH="0" baseline="0" dirty="0">
                <a:ln>
                  <a:noFill/>
                </a:ln>
                <a:solidFill>
                  <a:schemeClr val="tx1"/>
                </a:solidFill>
                <a:effectLst/>
                <a:latin typeface="Arial" panose="020B0604020202020204" pitchFamily="34" charset="0"/>
              </a:rPr>
              <a:t> – Blockchain-backed receipts &amp; audit trails eliminate tally errors and bias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 </a:t>
            </a:r>
            <a:r>
              <a:rPr kumimoji="0" lang="en-US" altLang="en-US" sz="700" b="1" i="0" u="none" strike="noStrike" cap="none" normalizeH="0" baseline="0" dirty="0">
                <a:ln>
                  <a:noFill/>
                </a:ln>
                <a:solidFill>
                  <a:schemeClr val="tx1"/>
                </a:solidFill>
                <a:effectLst/>
                <a:latin typeface="Arial" panose="020B0604020202020204" pitchFamily="34" charset="0"/>
              </a:rPr>
              <a:t>No booths, no barriers</a:t>
            </a:r>
            <a:r>
              <a:rPr kumimoji="0" lang="en-US" altLang="en-US" sz="700" b="0" i="0" u="none" strike="noStrike" cap="none" normalizeH="0" baseline="0" dirty="0">
                <a:ln>
                  <a:noFill/>
                </a:ln>
                <a:solidFill>
                  <a:schemeClr val="tx1"/>
                </a:solidFill>
                <a:effectLst/>
                <a:latin typeface="Arial" panose="020B0604020202020204" pitchFamily="34" charset="0"/>
              </a:rPr>
              <a:t> – Works for remote students, interns, exchange programs, NRIs</a:t>
            </a:r>
          </a:p>
        </p:txBody>
      </p:sp>
      <p:sp>
        <p:nvSpPr>
          <p:cNvPr id="17" name="Rectangle 7">
            <a:extLst>
              <a:ext uri="{FF2B5EF4-FFF2-40B4-BE49-F238E27FC236}">
                <a16:creationId xmlns:a16="http://schemas.microsoft.com/office/drawing/2014/main" id="{070E0FCF-0151-961D-3523-0FBE3911D819}"/>
              </a:ext>
            </a:extLst>
          </p:cNvPr>
          <p:cNvSpPr>
            <a:spLocks noChangeArrowheads="1"/>
          </p:cNvSpPr>
          <p:nvPr/>
        </p:nvSpPr>
        <p:spPr bwMode="auto">
          <a:xfrm>
            <a:off x="203057" y="2413549"/>
            <a:ext cx="4201789" cy="738664"/>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 Where It Fits: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Campus elections (BITS, IITs, NITs)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Student unions, alumni bodies, research councils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Professional or institutional elections where scale is moderate but </a:t>
            </a:r>
            <a:r>
              <a:rPr kumimoji="0" lang="en-US" altLang="en-US" sz="700" b="1" i="0" u="none" strike="noStrike" cap="none" normalizeH="0" baseline="0" dirty="0">
                <a:ln>
                  <a:noFill/>
                </a:ln>
                <a:solidFill>
                  <a:schemeClr val="tx1"/>
                </a:solidFill>
                <a:effectLst/>
                <a:latin typeface="Arial" panose="020B0604020202020204" pitchFamily="34" charset="0"/>
              </a:rPr>
              <a:t>credibility is critical</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algn="l" rtl="0" eaLnBrk="0" fontAlgn="base" hangingPunct="0">
              <a:spcBef>
                <a:spcPct val="0"/>
              </a:spcBef>
              <a:spcAft>
                <a:spcPct val="0"/>
              </a:spcAft>
            </a:pPr>
            <a:r>
              <a:rPr kumimoji="0" lang="en-US" altLang="en-US" sz="700" b="1" i="0" u="none" strike="noStrike" cap="none" normalizeH="0" baseline="0" dirty="0">
                <a:ln>
                  <a:noFill/>
                </a:ln>
                <a:solidFill>
                  <a:schemeClr val="tx1"/>
                </a:solidFill>
                <a:effectLst/>
                <a:latin typeface="Arial" panose="020B0604020202020204" pitchFamily="34" charset="0"/>
              </a:rPr>
              <a:t>BharatVote brings auditability, ease, and inclusion — without needing EVMs, polling stations, or an army of staff.</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1992630" cy="244475"/>
          </a:xfrm>
          <a:prstGeom prst="rect">
            <a:avLst/>
          </a:prstGeom>
        </p:spPr>
        <p:txBody>
          <a:bodyPr vert="horz" wrap="square" lIns="0" tIns="17145" rIns="0" bIns="0" rtlCol="0">
            <a:spAutoFit/>
          </a:bodyPr>
          <a:lstStyle/>
          <a:p>
            <a:pPr marL="12700">
              <a:lnSpc>
                <a:spcPct val="100000"/>
              </a:lnSpc>
              <a:spcBef>
                <a:spcPts val="135"/>
              </a:spcBef>
            </a:pPr>
            <a:r>
              <a:rPr sz="1400" spc="-45" dirty="0">
                <a:solidFill>
                  <a:srgbClr val="FFFFFF"/>
                </a:solidFill>
              </a:rPr>
              <a:t>Review</a:t>
            </a:r>
            <a:r>
              <a:rPr sz="1400" spc="-60" dirty="0">
                <a:solidFill>
                  <a:srgbClr val="FFFFFF"/>
                </a:solidFill>
              </a:rPr>
              <a:t> </a:t>
            </a:r>
            <a:r>
              <a:rPr sz="1400" dirty="0">
                <a:solidFill>
                  <a:srgbClr val="FFFFFF"/>
                </a:solidFill>
              </a:rPr>
              <a:t>of</a:t>
            </a:r>
            <a:r>
              <a:rPr sz="1400" spc="-55" dirty="0">
                <a:solidFill>
                  <a:srgbClr val="FFFFFF"/>
                </a:solidFill>
              </a:rPr>
              <a:t> </a:t>
            </a:r>
            <a:r>
              <a:rPr sz="1400" spc="-30" dirty="0">
                <a:solidFill>
                  <a:srgbClr val="FFFFFF"/>
                </a:solidFill>
              </a:rPr>
              <a:t>existing</a:t>
            </a:r>
            <a:r>
              <a:rPr sz="1400" spc="-55" dirty="0">
                <a:solidFill>
                  <a:srgbClr val="FFFFFF"/>
                </a:solidFill>
              </a:rPr>
              <a:t> </a:t>
            </a:r>
            <a:r>
              <a:rPr sz="1400" spc="-25" dirty="0">
                <a:solidFill>
                  <a:srgbClr val="FFFFFF"/>
                </a:solidFill>
              </a:rPr>
              <a:t>product</a:t>
            </a:r>
            <a:endParaRPr sz="1400" dirty="0"/>
          </a:p>
        </p:txBody>
      </p:sp>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2" name="object 12"/>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4" name="object 14"/>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7</a:t>
            </a:fld>
            <a:r>
              <a:rPr spc="-85" dirty="0"/>
              <a:t> </a:t>
            </a:r>
            <a:r>
              <a:rPr spc="90" dirty="0"/>
              <a:t>/</a:t>
            </a:r>
            <a:r>
              <a:rPr spc="-85" dirty="0"/>
              <a:t> </a:t>
            </a:r>
            <a:r>
              <a:rPr spc="-35" dirty="0"/>
              <a:t>1</a:t>
            </a:r>
            <a:r>
              <a:rPr lang="en-US" spc="-35" dirty="0"/>
              <a:t>9</a:t>
            </a:r>
            <a:endParaRPr spc="-35" dirty="0"/>
          </a:p>
        </p:txBody>
      </p:sp>
      <p:sp>
        <p:nvSpPr>
          <p:cNvPr id="4" name="TextBox 3">
            <a:extLst>
              <a:ext uri="{FF2B5EF4-FFF2-40B4-BE49-F238E27FC236}">
                <a16:creationId xmlns:a16="http://schemas.microsoft.com/office/drawing/2014/main" id="{72E96853-87BD-BCCB-C387-F6C4A829B411}"/>
              </a:ext>
            </a:extLst>
          </p:cNvPr>
          <p:cNvSpPr txBox="1"/>
          <p:nvPr/>
        </p:nvSpPr>
        <p:spPr>
          <a:xfrm>
            <a:off x="1162049" y="381963"/>
            <a:ext cx="2819401" cy="230832"/>
          </a:xfrm>
          <a:prstGeom prst="rect">
            <a:avLst/>
          </a:prstGeom>
          <a:noFill/>
        </p:spPr>
        <p:txBody>
          <a:bodyPr wrap="square">
            <a:spAutoFit/>
          </a:bodyPr>
          <a:lstStyle/>
          <a:p>
            <a:r>
              <a:rPr lang="en-IN" sz="900" b="1" dirty="0"/>
              <a:t>EVM + VVPAT (India’s National Standard)</a:t>
            </a:r>
          </a:p>
        </p:txBody>
      </p:sp>
      <p:sp>
        <p:nvSpPr>
          <p:cNvPr id="6" name="TextBox 5">
            <a:extLst>
              <a:ext uri="{FF2B5EF4-FFF2-40B4-BE49-F238E27FC236}">
                <a16:creationId xmlns:a16="http://schemas.microsoft.com/office/drawing/2014/main" id="{066A4AC2-010C-43EB-8E30-EFB90E1066AC}"/>
              </a:ext>
            </a:extLst>
          </p:cNvPr>
          <p:cNvSpPr txBox="1"/>
          <p:nvPr/>
        </p:nvSpPr>
        <p:spPr>
          <a:xfrm>
            <a:off x="601325" y="2600970"/>
            <a:ext cx="3408728" cy="58477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800" b="1" dirty="0"/>
              <a:t>💡  Lesson for BharatVote </a:t>
            </a:r>
          </a:p>
          <a:p>
            <a:pPr algn="ctr"/>
            <a:r>
              <a:rPr lang="en-US" sz="800" b="1" dirty="0"/>
              <a:t> </a:t>
            </a:r>
          </a:p>
          <a:p>
            <a:pPr marL="171450" indent="-171450" algn="ctr">
              <a:buFont typeface="Arial" panose="020B0604020202020204" pitchFamily="34" charset="0"/>
              <a:buChar char="•"/>
            </a:pPr>
            <a:r>
              <a:rPr lang="en-US" sz="800" dirty="0"/>
              <a:t>   Make the </a:t>
            </a:r>
            <a:r>
              <a:rPr lang="en-US" sz="800" b="1" dirty="0"/>
              <a:t>audit path public &amp; end-to-end</a:t>
            </a:r>
            <a:r>
              <a:rPr lang="en-US" sz="800" dirty="0"/>
              <a:t> (blockchain events)  </a:t>
            </a:r>
          </a:p>
          <a:p>
            <a:pPr marL="171450" indent="-171450" algn="ctr">
              <a:buFont typeface="Arial" panose="020B0604020202020204" pitchFamily="34" charset="0"/>
              <a:buChar char="•"/>
            </a:pPr>
            <a:r>
              <a:rPr lang="en-US" sz="800" dirty="0"/>
              <a:t>   Design for </a:t>
            </a:r>
            <a:r>
              <a:rPr lang="en-US" sz="800" b="1" dirty="0"/>
              <a:t>remote, device-agnostic access</a:t>
            </a:r>
            <a:r>
              <a:rPr lang="en-US" sz="800" dirty="0"/>
              <a:t> to cut logistics</a:t>
            </a:r>
          </a:p>
        </p:txBody>
      </p:sp>
      <p:sp>
        <p:nvSpPr>
          <p:cNvPr id="15" name="TextBox 14">
            <a:extLst>
              <a:ext uri="{FF2B5EF4-FFF2-40B4-BE49-F238E27FC236}">
                <a16:creationId xmlns:a16="http://schemas.microsoft.com/office/drawing/2014/main" id="{3F40E002-3014-A593-A4AC-A3E63636E808}"/>
              </a:ext>
            </a:extLst>
          </p:cNvPr>
          <p:cNvSpPr txBox="1"/>
          <p:nvPr/>
        </p:nvSpPr>
        <p:spPr>
          <a:xfrm>
            <a:off x="835414" y="612795"/>
            <a:ext cx="2937085" cy="58477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Calibri"/>
                <a:ea typeface="+mn-ea"/>
                <a:cs typeface="+mn-cs"/>
              </a:rPr>
              <a:t>🔧  How it works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a:ea typeface="+mn-ea"/>
              <a:cs typeface="+mn-cs"/>
            </a:endParaRP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Press button → vote stored in standalone hardware  </a:t>
            </a: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Paper slip (VVPAT) flashes for 3 s and drops into sealed box  </a:t>
            </a:r>
          </a:p>
        </p:txBody>
      </p:sp>
      <p:sp>
        <p:nvSpPr>
          <p:cNvPr id="18" name="TextBox 17">
            <a:extLst>
              <a:ext uri="{FF2B5EF4-FFF2-40B4-BE49-F238E27FC236}">
                <a16:creationId xmlns:a16="http://schemas.microsoft.com/office/drawing/2014/main" id="{73A37FEF-29DD-FD2B-34F0-C05B5EDF1796}"/>
              </a:ext>
            </a:extLst>
          </p:cNvPr>
          <p:cNvSpPr txBox="1"/>
          <p:nvPr/>
        </p:nvSpPr>
        <p:spPr>
          <a:xfrm>
            <a:off x="619729" y="1275179"/>
            <a:ext cx="3368453" cy="46166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Calibri"/>
                <a:ea typeface="+mn-ea"/>
                <a:cs typeface="+mn-cs"/>
              </a:rPr>
              <a:t>📍  Where used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a:ea typeface="+mn-ea"/>
              <a:cs typeface="+mn-cs"/>
            </a:endParaRP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2+ million machines in every Lok Sabha &amp; Assembly election since 2019  </a:t>
            </a:r>
          </a:p>
        </p:txBody>
      </p:sp>
      <p:sp>
        <p:nvSpPr>
          <p:cNvPr id="21" name="TextBox 20">
            <a:extLst>
              <a:ext uri="{FF2B5EF4-FFF2-40B4-BE49-F238E27FC236}">
                <a16:creationId xmlns:a16="http://schemas.microsoft.com/office/drawing/2014/main" id="{2E9320B5-95D9-B4A6-0D74-9076C945C7CA}"/>
              </a:ext>
            </a:extLst>
          </p:cNvPr>
          <p:cNvSpPr txBox="1"/>
          <p:nvPr/>
        </p:nvSpPr>
        <p:spPr>
          <a:xfrm>
            <a:off x="541804" y="1814453"/>
            <a:ext cx="3524302" cy="70788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Calibri"/>
                <a:ea typeface="+mn-ea"/>
                <a:cs typeface="+mn-cs"/>
              </a:rPr>
              <a:t>⚠️  Key gaps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Calibri"/>
                <a:ea typeface="+mn-ea"/>
                <a:cs typeface="+mn-cs"/>
              </a:rPr>
              <a:t> </a:t>
            </a: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   Only ~1.5 % slips hand-audited → limited statistical confidence  </a:t>
            </a: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    Firmware closed-source → insider chip re-flash risk  </a:t>
            </a: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    No remote voting; logistics of moving machines across 543 constituencies  </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8A6439-B61D-C1BB-CA25-3A1340CABB99}"/>
              </a:ext>
            </a:extLst>
          </p:cNvPr>
          <p:cNvSpPr txBox="1"/>
          <p:nvPr/>
        </p:nvSpPr>
        <p:spPr>
          <a:xfrm>
            <a:off x="1162050" y="358775"/>
            <a:ext cx="2514600" cy="230832"/>
          </a:xfrm>
          <a:prstGeom prst="rect">
            <a:avLst/>
          </a:prstGeom>
          <a:noFill/>
        </p:spPr>
        <p:txBody>
          <a:bodyPr wrap="square">
            <a:spAutoFit/>
          </a:bodyPr>
          <a:lstStyle/>
          <a:p>
            <a:r>
              <a:rPr lang="en-US" sz="900" b="1" dirty="0"/>
              <a:t>Remote Voting Machine (RVM) Demo 2023</a:t>
            </a:r>
            <a:endParaRPr lang="en-IN" sz="900" b="1" dirty="0"/>
          </a:p>
        </p:txBody>
      </p:sp>
      <p:sp>
        <p:nvSpPr>
          <p:cNvPr id="7" name="TextBox 6">
            <a:extLst>
              <a:ext uri="{FF2B5EF4-FFF2-40B4-BE49-F238E27FC236}">
                <a16:creationId xmlns:a16="http://schemas.microsoft.com/office/drawing/2014/main" id="{392FDB12-383B-DF56-6D8E-43398AAE8A35}"/>
              </a:ext>
            </a:extLst>
          </p:cNvPr>
          <p:cNvSpPr txBox="1"/>
          <p:nvPr/>
        </p:nvSpPr>
        <p:spPr>
          <a:xfrm>
            <a:off x="244475" y="2742168"/>
            <a:ext cx="4095750" cy="5078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Lesson for BharatVote  </a:t>
            </a:r>
          </a:p>
          <a:p>
            <a:pPr algn="ctr"/>
            <a:r>
              <a:rPr lang="en-IN" sz="900" dirty="0"/>
              <a:t>   → Remove hardware dependency: use </a:t>
            </a:r>
            <a:r>
              <a:rPr lang="en-IN" sz="900" b="1" dirty="0"/>
              <a:t>browser + MetaMask</a:t>
            </a:r>
          </a:p>
          <a:p>
            <a:pPr algn="ctr"/>
            <a:r>
              <a:rPr lang="en-IN" sz="900" dirty="0"/>
              <a:t>   → Keep admin UI minimal so existing staff need no retraining</a:t>
            </a:r>
          </a:p>
        </p:txBody>
      </p:sp>
      <p:sp>
        <p:nvSpPr>
          <p:cNvPr id="10" name="TextBox 9">
            <a:extLst>
              <a:ext uri="{FF2B5EF4-FFF2-40B4-BE49-F238E27FC236}">
                <a16:creationId xmlns:a16="http://schemas.microsoft.com/office/drawing/2014/main" id="{50A45033-5980-86A2-4F12-125B9EA0904F}"/>
              </a:ext>
            </a:extLst>
          </p:cNvPr>
          <p:cNvSpPr txBox="1"/>
          <p:nvPr/>
        </p:nvSpPr>
        <p:spPr>
          <a:xfrm>
            <a:off x="263525" y="724932"/>
            <a:ext cx="4095750" cy="5078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How it works  </a:t>
            </a:r>
          </a:p>
          <a:p>
            <a:r>
              <a:rPr lang="en-IN" sz="900" dirty="0"/>
              <a:t>   • One RVM can map up to 72 constituencies via dynamic ballot screen  </a:t>
            </a:r>
          </a:p>
          <a:p>
            <a:r>
              <a:rPr lang="en-IN" sz="900" dirty="0"/>
              <a:t>   • Voter verifies identity at booth, then selects home constituency  </a:t>
            </a:r>
          </a:p>
        </p:txBody>
      </p:sp>
      <p:sp>
        <p:nvSpPr>
          <p:cNvPr id="12" name="TextBox 11">
            <a:extLst>
              <a:ext uri="{FF2B5EF4-FFF2-40B4-BE49-F238E27FC236}">
                <a16:creationId xmlns:a16="http://schemas.microsoft.com/office/drawing/2014/main" id="{A6B24119-A3B1-2E1F-9D1C-A49DC7D73A84}"/>
              </a:ext>
            </a:extLst>
          </p:cNvPr>
          <p:cNvSpPr txBox="1"/>
          <p:nvPr/>
        </p:nvSpPr>
        <p:spPr>
          <a:xfrm>
            <a:off x="257175" y="1373103"/>
            <a:ext cx="401955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Where used  </a:t>
            </a:r>
          </a:p>
          <a:p>
            <a:pPr algn="ctr"/>
            <a:r>
              <a:rPr lang="en-IN" sz="900" dirty="0"/>
              <a:t>   • Prototype demo by ECI and IIT-Madras; not yet rolled out  </a:t>
            </a:r>
          </a:p>
        </p:txBody>
      </p:sp>
      <p:sp>
        <p:nvSpPr>
          <p:cNvPr id="14" name="TextBox 13">
            <a:extLst>
              <a:ext uri="{FF2B5EF4-FFF2-40B4-BE49-F238E27FC236}">
                <a16:creationId xmlns:a16="http://schemas.microsoft.com/office/drawing/2014/main" id="{59327749-9A8C-429B-E9B0-123EB4F2E39F}"/>
              </a:ext>
            </a:extLst>
          </p:cNvPr>
          <p:cNvSpPr txBox="1"/>
          <p:nvPr/>
        </p:nvSpPr>
        <p:spPr>
          <a:xfrm>
            <a:off x="295275" y="1882775"/>
            <a:ext cx="396875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Key gaps  </a:t>
            </a:r>
          </a:p>
          <a:p>
            <a:pPr algn="ctr"/>
            <a:r>
              <a:rPr lang="en-IN" sz="900" dirty="0"/>
              <a:t>   • Still requires physical booth travel for migrants  </a:t>
            </a:r>
          </a:p>
          <a:p>
            <a:pPr algn="ctr"/>
            <a:r>
              <a:rPr lang="en-IN" sz="900" dirty="0"/>
              <a:t>   • Complex configuration; needs new staff training  </a:t>
            </a:r>
          </a:p>
          <a:p>
            <a:pPr algn="ctr"/>
            <a:r>
              <a:rPr lang="en-IN" sz="900" dirty="0"/>
              <a:t>   • No robust biometric / wallet authentication  </a:t>
            </a:r>
          </a:p>
        </p:txBody>
      </p:sp>
      <p:grpSp>
        <p:nvGrpSpPr>
          <p:cNvPr id="19" name="object 8">
            <a:extLst>
              <a:ext uri="{FF2B5EF4-FFF2-40B4-BE49-F238E27FC236}">
                <a16:creationId xmlns:a16="http://schemas.microsoft.com/office/drawing/2014/main" id="{CDE70A6F-57CC-9644-01D1-363AF6B70B18}"/>
              </a:ext>
            </a:extLst>
          </p:cNvPr>
          <p:cNvGrpSpPr/>
          <p:nvPr/>
        </p:nvGrpSpPr>
        <p:grpSpPr>
          <a:xfrm>
            <a:off x="0" y="3346348"/>
            <a:ext cx="4608195" cy="109855"/>
            <a:chOff x="0" y="3346348"/>
            <a:chExt cx="4608195" cy="109855"/>
          </a:xfrm>
        </p:grpSpPr>
        <p:sp>
          <p:nvSpPr>
            <p:cNvPr id="20" name="object 9">
              <a:extLst>
                <a:ext uri="{FF2B5EF4-FFF2-40B4-BE49-F238E27FC236}">
                  <a16:creationId xmlns:a16="http://schemas.microsoft.com/office/drawing/2014/main" id="{767B4980-E1C9-2319-0BF0-52D39F7CB562}"/>
                </a:ext>
              </a:extLst>
            </p:cNvPr>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21" name="object 10">
              <a:extLst>
                <a:ext uri="{FF2B5EF4-FFF2-40B4-BE49-F238E27FC236}">
                  <a16:creationId xmlns:a16="http://schemas.microsoft.com/office/drawing/2014/main" id="{2EA6B4F7-40B6-6E36-2240-5BDE74F9B73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pPr algn="ctr"/>
              <a:r>
                <a:rPr lang="en-US" sz="700" dirty="0">
                  <a:solidFill>
                    <a:srgbClr val="FFFFFF"/>
                  </a:solidFill>
                  <a:latin typeface="Tahoma"/>
                  <a:cs typeface="Tahoma"/>
                </a:rPr>
                <a:t>BharatVote</a:t>
              </a:r>
              <a:endParaRPr lang="en-US" sz="700" dirty="0">
                <a:latin typeface="Tahoma"/>
                <a:cs typeface="Tahoma"/>
              </a:endParaRPr>
            </a:p>
            <a:p>
              <a:endParaRPr sz="800" dirty="0">
                <a:solidFill>
                  <a:schemeClr val="bg1"/>
                </a:solidFill>
              </a:endParaRPr>
            </a:p>
          </p:txBody>
        </p:sp>
        <p:sp>
          <p:nvSpPr>
            <p:cNvPr id="22" name="object 11">
              <a:extLst>
                <a:ext uri="{FF2B5EF4-FFF2-40B4-BE49-F238E27FC236}">
                  <a16:creationId xmlns:a16="http://schemas.microsoft.com/office/drawing/2014/main" id="{C8F6DC8A-EDCC-4CC2-BA3B-ECC8C1CC375B}"/>
                </a:ext>
              </a:extLst>
            </p:cNvPr>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23" name="Footer Placeholder 22">
            <a:extLst>
              <a:ext uri="{FF2B5EF4-FFF2-40B4-BE49-F238E27FC236}">
                <a16:creationId xmlns:a16="http://schemas.microsoft.com/office/drawing/2014/main" id="{6998D0B0-8039-188C-B542-49251234DB3C}"/>
              </a:ext>
            </a:extLst>
          </p:cNvPr>
          <p:cNvSpPr>
            <a:spLocks noGrp="1"/>
          </p:cNvSpPr>
          <p:nvPr>
            <p:ph type="ftr" sz="quarter" idx="5"/>
          </p:nvPr>
        </p:nvSpPr>
        <p:spPr/>
        <p:txBody>
          <a:bodyPr/>
          <a:lstStyle/>
          <a:p>
            <a:pPr marL="12700">
              <a:lnSpc>
                <a:spcPts val="675"/>
              </a:lnSpc>
            </a:pPr>
            <a:r>
              <a:rPr lang="en-IN"/>
              <a:t>August 4, 2025</a:t>
            </a:r>
            <a:endParaRPr lang="en-IN" spc="-20" dirty="0"/>
          </a:p>
        </p:txBody>
      </p:sp>
      <p:sp>
        <p:nvSpPr>
          <p:cNvPr id="24" name="Slide Number Placeholder 23">
            <a:extLst>
              <a:ext uri="{FF2B5EF4-FFF2-40B4-BE49-F238E27FC236}">
                <a16:creationId xmlns:a16="http://schemas.microsoft.com/office/drawing/2014/main" id="{B1D7A500-8449-7F69-1C85-C9F9147406E3}"/>
              </a:ext>
            </a:extLst>
          </p:cNvPr>
          <p:cNvSpPr>
            <a:spLocks noGrp="1"/>
          </p:cNvSpPr>
          <p:nvPr>
            <p:ph type="sldNum" sz="quarter" idx="7"/>
          </p:nvPr>
        </p:nvSpPr>
        <p:spPr>
          <a:xfrm>
            <a:off x="4299325" y="3351784"/>
            <a:ext cx="254000" cy="89768"/>
          </a:xfrm>
        </p:spPr>
        <p:txBody>
          <a:bodyPr/>
          <a:lstStyle/>
          <a:p>
            <a:pPr marL="12700">
              <a:lnSpc>
                <a:spcPts val="675"/>
              </a:lnSpc>
            </a:pPr>
            <a:fld id="{81D60167-4931-47E6-BA6A-407CBD079E47}" type="slidenum">
              <a:rPr lang="en-IN" spc="-10" smtClean="0"/>
              <a:t>8</a:t>
            </a:fld>
            <a:r>
              <a:rPr lang="en-IN" spc="-85" dirty="0"/>
              <a:t> </a:t>
            </a:r>
            <a:r>
              <a:rPr lang="en-IN" spc="90" dirty="0"/>
              <a:t>/</a:t>
            </a:r>
            <a:r>
              <a:rPr lang="en-IN" spc="-85" dirty="0"/>
              <a:t> </a:t>
            </a:r>
            <a:r>
              <a:rPr lang="en-IN" spc="-35" dirty="0"/>
              <a:t>19</a:t>
            </a:r>
          </a:p>
        </p:txBody>
      </p:sp>
      <p:sp>
        <p:nvSpPr>
          <p:cNvPr id="28" name="TextBox 27">
            <a:extLst>
              <a:ext uri="{FF2B5EF4-FFF2-40B4-BE49-F238E27FC236}">
                <a16:creationId xmlns:a16="http://schemas.microsoft.com/office/drawing/2014/main" id="{7642E543-894C-BBB7-02D8-4D7EC22C1771}"/>
              </a:ext>
            </a:extLst>
          </p:cNvPr>
          <p:cNvSpPr txBox="1"/>
          <p:nvPr/>
        </p:nvSpPr>
        <p:spPr>
          <a:xfrm>
            <a:off x="12162" y="30426"/>
            <a:ext cx="3283487" cy="369332"/>
          </a:xfrm>
          <a:prstGeom prst="rect">
            <a:avLst/>
          </a:prstGeom>
          <a:noFill/>
        </p:spPr>
        <p:txBody>
          <a:bodyPr wrap="square">
            <a:spAutoFit/>
          </a:bodyPr>
          <a:lstStyle/>
          <a:p>
            <a:r>
              <a:rPr lang="en-IN" sz="1800" spc="-45" dirty="0">
                <a:solidFill>
                  <a:srgbClr val="FFFFFF"/>
                </a:solidFill>
              </a:rPr>
              <a:t>Review</a:t>
            </a:r>
            <a:r>
              <a:rPr lang="en-IN" sz="1800" spc="-60" dirty="0">
                <a:solidFill>
                  <a:srgbClr val="FFFFFF"/>
                </a:solidFill>
              </a:rPr>
              <a:t> </a:t>
            </a:r>
            <a:r>
              <a:rPr lang="en-IN" sz="1800" dirty="0">
                <a:solidFill>
                  <a:srgbClr val="FFFFFF"/>
                </a:solidFill>
              </a:rPr>
              <a:t>of</a:t>
            </a:r>
            <a:r>
              <a:rPr lang="en-IN" sz="1800" spc="-55" dirty="0">
                <a:solidFill>
                  <a:srgbClr val="FFFFFF"/>
                </a:solidFill>
              </a:rPr>
              <a:t> </a:t>
            </a:r>
            <a:r>
              <a:rPr lang="en-IN" sz="1800" spc="-30" dirty="0">
                <a:solidFill>
                  <a:srgbClr val="FFFFFF"/>
                </a:solidFill>
              </a:rPr>
              <a:t>existing</a:t>
            </a:r>
            <a:r>
              <a:rPr lang="en-IN" sz="1800" spc="-55" dirty="0">
                <a:solidFill>
                  <a:srgbClr val="FFFFFF"/>
                </a:solidFill>
              </a:rPr>
              <a:t> </a:t>
            </a:r>
            <a:r>
              <a:rPr lang="en-IN" sz="1800" spc="-25" dirty="0">
                <a:solidFill>
                  <a:srgbClr val="FFFFFF"/>
                </a:solidFill>
              </a:rPr>
              <a:t>product</a:t>
            </a:r>
            <a:endParaRPr lang="en-IN" dirty="0"/>
          </a:p>
        </p:txBody>
      </p:sp>
    </p:spTree>
    <p:extLst>
      <p:ext uri="{BB962C8B-B14F-4D97-AF65-F5344CB8AC3E}">
        <p14:creationId xmlns:p14="http://schemas.microsoft.com/office/powerpoint/2010/main" val="340919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0663176-7822-44E5-1663-407FEA42A0DD}"/>
              </a:ext>
            </a:extLst>
          </p:cNvPr>
          <p:cNvSpPr txBox="1"/>
          <p:nvPr/>
        </p:nvSpPr>
        <p:spPr>
          <a:xfrm>
            <a:off x="552450" y="388180"/>
            <a:ext cx="3619500" cy="230832"/>
          </a:xfrm>
          <a:prstGeom prst="rect">
            <a:avLst/>
          </a:prstGeom>
          <a:noFill/>
        </p:spPr>
        <p:txBody>
          <a:bodyPr wrap="square">
            <a:spAutoFit/>
          </a:bodyPr>
          <a:lstStyle/>
          <a:p>
            <a:pPr algn="ctr"/>
            <a:r>
              <a:rPr lang="en-US" sz="900" b="1" dirty="0"/>
              <a:t>IIT-M × ECI × CDAC Blockchain Kiosk (2020 Pilot)</a:t>
            </a:r>
            <a:endParaRPr lang="en-IN" sz="900" b="1" dirty="0"/>
          </a:p>
        </p:txBody>
      </p:sp>
      <p:sp>
        <p:nvSpPr>
          <p:cNvPr id="3" name="TextBox 2">
            <a:extLst>
              <a:ext uri="{FF2B5EF4-FFF2-40B4-BE49-F238E27FC236}">
                <a16:creationId xmlns:a16="http://schemas.microsoft.com/office/drawing/2014/main" id="{DA43303A-FF02-1E08-3AA1-F350C0987D2C}"/>
              </a:ext>
            </a:extLst>
          </p:cNvPr>
          <p:cNvSpPr txBox="1"/>
          <p:nvPr/>
        </p:nvSpPr>
        <p:spPr>
          <a:xfrm>
            <a:off x="400050" y="619012"/>
            <a:ext cx="4076700" cy="5078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How it works  </a:t>
            </a:r>
          </a:p>
          <a:p>
            <a:pPr marL="171450" indent="-171450">
              <a:buFont typeface="Arial" panose="020B0604020202020204" pitchFamily="34" charset="0"/>
              <a:buChar char="•"/>
            </a:pPr>
            <a:r>
              <a:rPr lang="en-IN" sz="900" dirty="0"/>
              <a:t>    Special kiosk with fingerprint + webcam → writes vote to private chain  </a:t>
            </a:r>
          </a:p>
          <a:p>
            <a:pPr marL="171450" indent="-171450">
              <a:buFont typeface="Arial" panose="020B0604020202020204" pitchFamily="34" charset="0"/>
              <a:buChar char="•"/>
            </a:pPr>
            <a:r>
              <a:rPr lang="en-IN" sz="900" dirty="0"/>
              <a:t>    Commit-reveal not used; vote stored directly </a:t>
            </a:r>
          </a:p>
        </p:txBody>
      </p:sp>
      <p:sp>
        <p:nvSpPr>
          <p:cNvPr id="7" name="TextBox 6">
            <a:extLst>
              <a:ext uri="{FF2B5EF4-FFF2-40B4-BE49-F238E27FC236}">
                <a16:creationId xmlns:a16="http://schemas.microsoft.com/office/drawing/2014/main" id="{8872F35D-8C8B-2063-66F2-41B5942819B9}"/>
              </a:ext>
            </a:extLst>
          </p:cNvPr>
          <p:cNvSpPr txBox="1"/>
          <p:nvPr/>
        </p:nvSpPr>
        <p:spPr>
          <a:xfrm>
            <a:off x="400050" y="1196975"/>
            <a:ext cx="403860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Where used  </a:t>
            </a:r>
          </a:p>
          <a:p>
            <a:pPr marL="171450" indent="-171450" algn="ctr">
              <a:buFont typeface="Arial" panose="020B0604020202020204" pitchFamily="34" charset="0"/>
              <a:buChar char="•"/>
            </a:pPr>
            <a:r>
              <a:rPr lang="en-IN" sz="900" dirty="0"/>
              <a:t>   Limited on-campus dry-run at IIT-Madras; lab environment</a:t>
            </a:r>
          </a:p>
        </p:txBody>
      </p:sp>
      <p:sp>
        <p:nvSpPr>
          <p:cNvPr id="9" name="TextBox 8">
            <a:extLst>
              <a:ext uri="{FF2B5EF4-FFF2-40B4-BE49-F238E27FC236}">
                <a16:creationId xmlns:a16="http://schemas.microsoft.com/office/drawing/2014/main" id="{AF663764-2D2D-A8D6-E14D-8B8AA63656F2}"/>
              </a:ext>
            </a:extLst>
          </p:cNvPr>
          <p:cNvSpPr txBox="1"/>
          <p:nvPr/>
        </p:nvSpPr>
        <p:spPr>
          <a:xfrm>
            <a:off x="323850" y="1636439"/>
            <a:ext cx="40386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Key gaps  </a:t>
            </a:r>
          </a:p>
          <a:p>
            <a:r>
              <a:rPr lang="en-IN" sz="900" dirty="0"/>
              <a:t>   • Booth-bound; compromised kiosk = compromised vote  </a:t>
            </a:r>
          </a:p>
          <a:p>
            <a:r>
              <a:rPr lang="en-IN" sz="900" dirty="0"/>
              <a:t>   • Private blockchain → public can’t audit; code not released  </a:t>
            </a:r>
          </a:p>
          <a:p>
            <a:r>
              <a:rPr lang="en-IN" sz="900" dirty="0"/>
              <a:t>   • Extra biometric hardware raises cost</a:t>
            </a:r>
          </a:p>
        </p:txBody>
      </p:sp>
      <p:sp>
        <p:nvSpPr>
          <p:cNvPr id="11" name="TextBox 10">
            <a:extLst>
              <a:ext uri="{FF2B5EF4-FFF2-40B4-BE49-F238E27FC236}">
                <a16:creationId xmlns:a16="http://schemas.microsoft.com/office/drawing/2014/main" id="{DA75BFD2-7B86-7974-7F06-0903726C2125}"/>
              </a:ext>
            </a:extLst>
          </p:cNvPr>
          <p:cNvSpPr txBox="1"/>
          <p:nvPr/>
        </p:nvSpPr>
        <p:spPr>
          <a:xfrm>
            <a:off x="400050" y="2410364"/>
            <a:ext cx="38481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Lesson for BharatVote  </a:t>
            </a:r>
          </a:p>
          <a:p>
            <a:r>
              <a:rPr lang="en-IN" sz="900" dirty="0"/>
              <a:t>   → </a:t>
            </a:r>
            <a:r>
              <a:rPr lang="en-IN" sz="900" b="1" dirty="0"/>
              <a:t>Public </a:t>
            </a:r>
            <a:r>
              <a:rPr lang="en-IN" sz="900" b="1" dirty="0" err="1"/>
              <a:t>testnet</a:t>
            </a:r>
            <a:r>
              <a:rPr lang="en-IN" sz="900" b="1" dirty="0"/>
              <a:t> (</a:t>
            </a:r>
            <a:r>
              <a:rPr lang="en-IN" sz="900" b="1" dirty="0" err="1"/>
              <a:t>Sepolia</a:t>
            </a:r>
            <a:r>
              <a:rPr lang="en-IN" sz="900" b="1" dirty="0"/>
              <a:t>)</a:t>
            </a:r>
            <a:r>
              <a:rPr lang="en-IN" sz="900" dirty="0"/>
              <a:t> for open auditability  </a:t>
            </a:r>
          </a:p>
          <a:p>
            <a:r>
              <a:rPr lang="en-IN" sz="900" dirty="0"/>
              <a:t>   → Use </a:t>
            </a:r>
            <a:r>
              <a:rPr lang="en-IN" sz="900" b="1" dirty="0"/>
              <a:t>commit-reveal</a:t>
            </a:r>
            <a:r>
              <a:rPr lang="en-IN" sz="900" dirty="0"/>
              <a:t> so even a tampered client can’t leak the vote  </a:t>
            </a:r>
          </a:p>
          <a:p>
            <a:r>
              <a:rPr lang="en-IN" sz="900" dirty="0"/>
              <a:t>   → Leverage existing webcams/phones, not custom biometrics</a:t>
            </a:r>
          </a:p>
        </p:txBody>
      </p:sp>
      <p:grpSp>
        <p:nvGrpSpPr>
          <p:cNvPr id="12" name="object 8">
            <a:extLst>
              <a:ext uri="{FF2B5EF4-FFF2-40B4-BE49-F238E27FC236}">
                <a16:creationId xmlns:a16="http://schemas.microsoft.com/office/drawing/2014/main" id="{38738DD6-1FDE-65E2-5EB3-E0ECB8007312}"/>
              </a:ext>
            </a:extLst>
          </p:cNvPr>
          <p:cNvGrpSpPr/>
          <p:nvPr/>
        </p:nvGrpSpPr>
        <p:grpSpPr>
          <a:xfrm>
            <a:off x="0" y="3346348"/>
            <a:ext cx="4608195" cy="109855"/>
            <a:chOff x="0" y="3346348"/>
            <a:chExt cx="4608195" cy="109855"/>
          </a:xfrm>
        </p:grpSpPr>
        <p:sp>
          <p:nvSpPr>
            <p:cNvPr id="13" name="object 9">
              <a:extLst>
                <a:ext uri="{FF2B5EF4-FFF2-40B4-BE49-F238E27FC236}">
                  <a16:creationId xmlns:a16="http://schemas.microsoft.com/office/drawing/2014/main" id="{EDDBBF9B-1E41-CD4F-8A32-FB405C93FE4B}"/>
                </a:ext>
              </a:extLst>
            </p:cNvPr>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14" name="object 10">
              <a:extLst>
                <a:ext uri="{FF2B5EF4-FFF2-40B4-BE49-F238E27FC236}">
                  <a16:creationId xmlns:a16="http://schemas.microsoft.com/office/drawing/2014/main" id="{23A43CF7-E6E2-9493-4517-38BFF81A6AD4}"/>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pPr algn="ctr"/>
              <a:r>
                <a:rPr lang="en-US" sz="700" dirty="0">
                  <a:solidFill>
                    <a:srgbClr val="FFFFFF"/>
                  </a:solidFill>
                  <a:latin typeface="Tahoma"/>
                  <a:cs typeface="Tahoma"/>
                </a:rPr>
                <a:t>BharatVote</a:t>
              </a:r>
              <a:endParaRPr lang="en-US" sz="700" dirty="0">
                <a:latin typeface="Tahoma"/>
                <a:cs typeface="Tahoma"/>
              </a:endParaRPr>
            </a:p>
            <a:p>
              <a:endParaRPr sz="800" dirty="0">
                <a:solidFill>
                  <a:schemeClr val="bg1"/>
                </a:solidFill>
              </a:endParaRPr>
            </a:p>
          </p:txBody>
        </p:sp>
        <p:sp>
          <p:nvSpPr>
            <p:cNvPr id="15" name="object 11">
              <a:extLst>
                <a:ext uri="{FF2B5EF4-FFF2-40B4-BE49-F238E27FC236}">
                  <a16:creationId xmlns:a16="http://schemas.microsoft.com/office/drawing/2014/main" id="{2E0D1596-F650-A6DA-AC47-3AC6FF85C9D3}"/>
                </a:ext>
              </a:extLst>
            </p:cNvPr>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6" name="Footer Placeholder 15">
            <a:extLst>
              <a:ext uri="{FF2B5EF4-FFF2-40B4-BE49-F238E27FC236}">
                <a16:creationId xmlns:a16="http://schemas.microsoft.com/office/drawing/2014/main" id="{302BACEF-FC03-8E64-F255-BE5C96535F58}"/>
              </a:ext>
            </a:extLst>
          </p:cNvPr>
          <p:cNvSpPr>
            <a:spLocks noGrp="1"/>
          </p:cNvSpPr>
          <p:nvPr>
            <p:ph type="ftr" sz="quarter" idx="5"/>
          </p:nvPr>
        </p:nvSpPr>
        <p:spPr/>
        <p:txBody>
          <a:bodyPr/>
          <a:lstStyle/>
          <a:p>
            <a:pPr marL="12700">
              <a:lnSpc>
                <a:spcPts val="675"/>
              </a:lnSpc>
            </a:pPr>
            <a:r>
              <a:rPr lang="en-IN"/>
              <a:t>August 4, 2025</a:t>
            </a:r>
            <a:endParaRPr lang="en-IN" spc="-20" dirty="0"/>
          </a:p>
        </p:txBody>
      </p:sp>
      <p:sp>
        <p:nvSpPr>
          <p:cNvPr id="17" name="Slide Number Placeholder 16">
            <a:extLst>
              <a:ext uri="{FF2B5EF4-FFF2-40B4-BE49-F238E27FC236}">
                <a16:creationId xmlns:a16="http://schemas.microsoft.com/office/drawing/2014/main" id="{5015D3CF-B915-0369-BBB3-62E6A0098667}"/>
              </a:ext>
            </a:extLst>
          </p:cNvPr>
          <p:cNvSpPr>
            <a:spLocks noGrp="1"/>
          </p:cNvSpPr>
          <p:nvPr>
            <p:ph type="sldNum" sz="quarter" idx="7"/>
          </p:nvPr>
        </p:nvSpPr>
        <p:spPr>
          <a:xfrm>
            <a:off x="4299325" y="3351784"/>
            <a:ext cx="254000" cy="89768"/>
          </a:xfrm>
        </p:spPr>
        <p:txBody>
          <a:bodyPr/>
          <a:lstStyle/>
          <a:p>
            <a:pPr marL="12700">
              <a:lnSpc>
                <a:spcPts val="675"/>
              </a:lnSpc>
            </a:pPr>
            <a:fld id="{81D60167-4931-47E6-BA6A-407CBD079E47}" type="slidenum">
              <a:rPr lang="en-IN" spc="-10" smtClean="0"/>
              <a:t>9</a:t>
            </a:fld>
            <a:r>
              <a:rPr lang="en-IN" spc="-85" dirty="0"/>
              <a:t> </a:t>
            </a:r>
            <a:r>
              <a:rPr lang="en-IN" spc="90" dirty="0"/>
              <a:t>/</a:t>
            </a:r>
            <a:r>
              <a:rPr lang="en-IN" spc="-85" dirty="0"/>
              <a:t> </a:t>
            </a:r>
            <a:r>
              <a:rPr lang="en-IN" spc="-35" dirty="0"/>
              <a:t>19</a:t>
            </a:r>
          </a:p>
        </p:txBody>
      </p:sp>
      <p:sp>
        <p:nvSpPr>
          <p:cNvPr id="19" name="TextBox 18">
            <a:extLst>
              <a:ext uri="{FF2B5EF4-FFF2-40B4-BE49-F238E27FC236}">
                <a16:creationId xmlns:a16="http://schemas.microsoft.com/office/drawing/2014/main" id="{6C4D82CF-7720-E15D-D6FE-3B9DE28E4F23}"/>
              </a:ext>
            </a:extLst>
          </p:cNvPr>
          <p:cNvSpPr txBox="1"/>
          <p:nvPr/>
        </p:nvSpPr>
        <p:spPr>
          <a:xfrm>
            <a:off x="-33872" y="41049"/>
            <a:ext cx="3329522" cy="369332"/>
          </a:xfrm>
          <a:prstGeom prst="rect">
            <a:avLst/>
          </a:prstGeom>
          <a:noFill/>
        </p:spPr>
        <p:txBody>
          <a:bodyPr wrap="square">
            <a:spAutoFit/>
          </a:bodyPr>
          <a:lstStyle/>
          <a:p>
            <a:r>
              <a:rPr lang="en-IN" sz="1800" spc="-45" dirty="0">
                <a:solidFill>
                  <a:srgbClr val="FFFFFF"/>
                </a:solidFill>
              </a:rPr>
              <a:t>Review</a:t>
            </a:r>
            <a:r>
              <a:rPr lang="en-IN" sz="1800" spc="-60" dirty="0">
                <a:solidFill>
                  <a:srgbClr val="FFFFFF"/>
                </a:solidFill>
              </a:rPr>
              <a:t> </a:t>
            </a:r>
            <a:r>
              <a:rPr lang="en-IN" sz="1800" dirty="0">
                <a:solidFill>
                  <a:srgbClr val="FFFFFF"/>
                </a:solidFill>
              </a:rPr>
              <a:t>of</a:t>
            </a:r>
            <a:r>
              <a:rPr lang="en-IN" sz="1800" spc="-55" dirty="0">
                <a:solidFill>
                  <a:srgbClr val="FFFFFF"/>
                </a:solidFill>
              </a:rPr>
              <a:t> </a:t>
            </a:r>
            <a:r>
              <a:rPr lang="en-IN" sz="1800" spc="-30" dirty="0">
                <a:solidFill>
                  <a:srgbClr val="FFFFFF"/>
                </a:solidFill>
              </a:rPr>
              <a:t>existing</a:t>
            </a:r>
            <a:r>
              <a:rPr lang="en-IN" sz="1800" spc="-55" dirty="0">
                <a:solidFill>
                  <a:srgbClr val="FFFFFF"/>
                </a:solidFill>
              </a:rPr>
              <a:t> </a:t>
            </a:r>
            <a:r>
              <a:rPr lang="en-IN" sz="1800" spc="-25" dirty="0">
                <a:solidFill>
                  <a:srgbClr val="FFFFFF"/>
                </a:solidFill>
              </a:rPr>
              <a:t>product</a:t>
            </a:r>
            <a:endParaRPr lang="en-IN" dirty="0"/>
          </a:p>
        </p:txBody>
      </p:sp>
    </p:spTree>
    <p:extLst>
      <p:ext uri="{BB962C8B-B14F-4D97-AF65-F5344CB8AC3E}">
        <p14:creationId xmlns:p14="http://schemas.microsoft.com/office/powerpoint/2010/main" val="1049522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649C0-6919-AE0F-814A-B1E42B32DB04}"/>
              </a:ext>
            </a:extLst>
          </p:cNvPr>
          <p:cNvSpPr txBox="1"/>
          <p:nvPr/>
        </p:nvSpPr>
        <p:spPr>
          <a:xfrm>
            <a:off x="1085850" y="358775"/>
            <a:ext cx="4044950" cy="246221"/>
          </a:xfrm>
          <a:prstGeom prst="rect">
            <a:avLst/>
          </a:prstGeom>
          <a:noFill/>
        </p:spPr>
        <p:txBody>
          <a:bodyPr wrap="square">
            <a:spAutoFit/>
          </a:bodyPr>
          <a:lstStyle/>
          <a:p>
            <a:r>
              <a:rPr lang="en-IN" sz="1000" b="1" dirty="0"/>
              <a:t>Telangana Smartphone Voting Pilot 2021</a:t>
            </a:r>
            <a:endParaRPr lang="en-US" sz="1000" b="1" dirty="0"/>
          </a:p>
        </p:txBody>
      </p:sp>
      <p:sp>
        <p:nvSpPr>
          <p:cNvPr id="3" name="TextBox 2">
            <a:extLst>
              <a:ext uri="{FF2B5EF4-FFF2-40B4-BE49-F238E27FC236}">
                <a16:creationId xmlns:a16="http://schemas.microsoft.com/office/drawing/2014/main" id="{A6625F3A-E148-1DB0-33CB-BE78BC244F48}"/>
              </a:ext>
            </a:extLst>
          </p:cNvPr>
          <p:cNvSpPr txBox="1"/>
          <p:nvPr/>
        </p:nvSpPr>
        <p:spPr>
          <a:xfrm>
            <a:off x="704849" y="604996"/>
            <a:ext cx="3622675"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How it works  </a:t>
            </a:r>
          </a:p>
          <a:p>
            <a:pPr algn="ctr"/>
            <a:r>
              <a:rPr lang="en-IN" sz="900" dirty="0"/>
              <a:t>   • Android-only “TSEC-</a:t>
            </a:r>
            <a:r>
              <a:rPr lang="en-IN" sz="900" dirty="0" err="1"/>
              <a:t>eVote</a:t>
            </a:r>
            <a:r>
              <a:rPr lang="en-IN" sz="900" dirty="0"/>
              <a:t>” app  </a:t>
            </a:r>
          </a:p>
          <a:p>
            <a:pPr algn="ctr"/>
            <a:r>
              <a:rPr lang="en-IN" sz="900" dirty="0"/>
              <a:t>   • 3-factor auth: Aadhaar name match, selfie liveness, EPIC face match  </a:t>
            </a:r>
          </a:p>
          <a:p>
            <a:pPr algn="ctr"/>
            <a:r>
              <a:rPr lang="en-IN" sz="900" dirty="0"/>
              <a:t>   • Votes stored on permissioned blockchain backend </a:t>
            </a:r>
          </a:p>
        </p:txBody>
      </p:sp>
      <p:sp>
        <p:nvSpPr>
          <p:cNvPr id="9" name="TextBox 8">
            <a:extLst>
              <a:ext uri="{FF2B5EF4-FFF2-40B4-BE49-F238E27FC236}">
                <a16:creationId xmlns:a16="http://schemas.microsoft.com/office/drawing/2014/main" id="{96F61EA2-9FBA-2745-5F93-266124F4419D}"/>
              </a:ext>
            </a:extLst>
          </p:cNvPr>
          <p:cNvSpPr txBox="1"/>
          <p:nvPr/>
        </p:nvSpPr>
        <p:spPr>
          <a:xfrm>
            <a:off x="1009650" y="1361043"/>
            <a:ext cx="271780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Where used  </a:t>
            </a:r>
          </a:p>
          <a:p>
            <a:pPr algn="ctr"/>
            <a:r>
              <a:rPr lang="en-IN" sz="900" dirty="0"/>
              <a:t>   • Khammam municipal elections (dry run, Oct 2021)</a:t>
            </a:r>
          </a:p>
        </p:txBody>
      </p:sp>
      <p:sp>
        <p:nvSpPr>
          <p:cNvPr id="11" name="TextBox 10">
            <a:extLst>
              <a:ext uri="{FF2B5EF4-FFF2-40B4-BE49-F238E27FC236}">
                <a16:creationId xmlns:a16="http://schemas.microsoft.com/office/drawing/2014/main" id="{C642A47E-16DE-759B-D89D-68B1EB649B1F}"/>
              </a:ext>
            </a:extLst>
          </p:cNvPr>
          <p:cNvSpPr txBox="1"/>
          <p:nvPr/>
        </p:nvSpPr>
        <p:spPr>
          <a:xfrm>
            <a:off x="853612" y="1916035"/>
            <a:ext cx="3055276"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900" b="1" dirty="0"/>
              <a:t>⚠️  Key gaps  </a:t>
            </a:r>
          </a:p>
          <a:p>
            <a:pPr algn="ctr"/>
            <a:r>
              <a:rPr lang="en-US" sz="900" dirty="0"/>
              <a:t>   • Low turnout; many users failed KYC on 2G/3G networks  </a:t>
            </a:r>
          </a:p>
          <a:p>
            <a:pPr algn="ctr"/>
            <a:r>
              <a:rPr lang="en-US" sz="900" dirty="0"/>
              <a:t>   • Closed code + private ledger drew transparency criticism  </a:t>
            </a:r>
          </a:p>
          <a:p>
            <a:pPr algn="ctr"/>
            <a:r>
              <a:rPr lang="en-US" sz="900" dirty="0"/>
              <a:t>   • Device lock-in: lose phone = lose vote </a:t>
            </a:r>
            <a:endParaRPr lang="en-IN" sz="900" dirty="0"/>
          </a:p>
        </p:txBody>
      </p:sp>
      <p:sp>
        <p:nvSpPr>
          <p:cNvPr id="13" name="TextBox 12">
            <a:extLst>
              <a:ext uri="{FF2B5EF4-FFF2-40B4-BE49-F238E27FC236}">
                <a16:creationId xmlns:a16="http://schemas.microsoft.com/office/drawing/2014/main" id="{3919F0BB-6815-57FC-3DE6-59F194F442F8}"/>
              </a:ext>
            </a:extLst>
          </p:cNvPr>
          <p:cNvSpPr txBox="1"/>
          <p:nvPr/>
        </p:nvSpPr>
        <p:spPr>
          <a:xfrm>
            <a:off x="488950" y="2642304"/>
            <a:ext cx="37846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Lesson for BharatVote  </a:t>
            </a:r>
          </a:p>
          <a:p>
            <a:r>
              <a:rPr lang="en-IN" sz="900" dirty="0"/>
              <a:t>   → </a:t>
            </a:r>
            <a:r>
              <a:rPr lang="en-IN" sz="900" b="1" dirty="0"/>
              <a:t>Browser first</a:t>
            </a:r>
            <a:r>
              <a:rPr lang="en-IN" sz="900" dirty="0"/>
              <a:t> with optional RN app = zero install barrier  </a:t>
            </a:r>
          </a:p>
          <a:p>
            <a:r>
              <a:rPr lang="en-IN" sz="900" dirty="0"/>
              <a:t>   → </a:t>
            </a:r>
            <a:r>
              <a:rPr lang="en-IN" sz="900" b="1" dirty="0"/>
              <a:t>Public, open-source contracts </a:t>
            </a:r>
            <a:r>
              <a:rPr lang="en-IN" sz="900" dirty="0"/>
              <a:t>to build trust  </a:t>
            </a:r>
          </a:p>
          <a:p>
            <a:r>
              <a:rPr lang="en-IN" sz="900" dirty="0"/>
              <a:t>   → Wallet-based identity allows switching devices seamlessly</a:t>
            </a:r>
          </a:p>
        </p:txBody>
      </p:sp>
      <p:grpSp>
        <p:nvGrpSpPr>
          <p:cNvPr id="14" name="object 8">
            <a:extLst>
              <a:ext uri="{FF2B5EF4-FFF2-40B4-BE49-F238E27FC236}">
                <a16:creationId xmlns:a16="http://schemas.microsoft.com/office/drawing/2014/main" id="{903D5831-85A5-6928-D372-C440B4201C38}"/>
              </a:ext>
            </a:extLst>
          </p:cNvPr>
          <p:cNvGrpSpPr/>
          <p:nvPr/>
        </p:nvGrpSpPr>
        <p:grpSpPr>
          <a:xfrm>
            <a:off x="0" y="3346348"/>
            <a:ext cx="4608195" cy="109855"/>
            <a:chOff x="0" y="3346348"/>
            <a:chExt cx="4608195" cy="109855"/>
          </a:xfrm>
        </p:grpSpPr>
        <p:sp>
          <p:nvSpPr>
            <p:cNvPr id="15" name="object 9">
              <a:extLst>
                <a:ext uri="{FF2B5EF4-FFF2-40B4-BE49-F238E27FC236}">
                  <a16:creationId xmlns:a16="http://schemas.microsoft.com/office/drawing/2014/main" id="{C9C5471E-740E-38CF-A04B-2CE0386D8285}"/>
                </a:ext>
              </a:extLst>
            </p:cNvPr>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16" name="object 10">
              <a:extLst>
                <a:ext uri="{FF2B5EF4-FFF2-40B4-BE49-F238E27FC236}">
                  <a16:creationId xmlns:a16="http://schemas.microsoft.com/office/drawing/2014/main" id="{9DAA2A2B-9B21-AA35-3C37-AD0E29F00202}"/>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pPr algn="ctr"/>
              <a:r>
                <a:rPr lang="en-US" sz="700" dirty="0">
                  <a:solidFill>
                    <a:srgbClr val="FFFFFF"/>
                  </a:solidFill>
                  <a:latin typeface="Tahoma"/>
                  <a:cs typeface="Tahoma"/>
                </a:rPr>
                <a:t>BharatVote</a:t>
              </a:r>
              <a:endParaRPr lang="en-US" sz="700" dirty="0">
                <a:latin typeface="Tahoma"/>
                <a:cs typeface="Tahoma"/>
              </a:endParaRPr>
            </a:p>
            <a:p>
              <a:endParaRPr sz="800" dirty="0">
                <a:solidFill>
                  <a:schemeClr val="bg1"/>
                </a:solidFill>
              </a:endParaRPr>
            </a:p>
          </p:txBody>
        </p:sp>
        <p:sp>
          <p:nvSpPr>
            <p:cNvPr id="17" name="object 11">
              <a:extLst>
                <a:ext uri="{FF2B5EF4-FFF2-40B4-BE49-F238E27FC236}">
                  <a16:creationId xmlns:a16="http://schemas.microsoft.com/office/drawing/2014/main" id="{74BB5901-5327-AFCE-92AF-306391F1831A}"/>
                </a:ext>
              </a:extLst>
            </p:cNvPr>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8" name="Footer Placeholder 17">
            <a:extLst>
              <a:ext uri="{FF2B5EF4-FFF2-40B4-BE49-F238E27FC236}">
                <a16:creationId xmlns:a16="http://schemas.microsoft.com/office/drawing/2014/main" id="{7B5F2263-AD05-3F7D-8228-60F4F4D60DDD}"/>
              </a:ext>
            </a:extLst>
          </p:cNvPr>
          <p:cNvSpPr>
            <a:spLocks noGrp="1"/>
          </p:cNvSpPr>
          <p:nvPr>
            <p:ph type="ftr" sz="quarter" idx="5"/>
          </p:nvPr>
        </p:nvSpPr>
        <p:spPr/>
        <p:txBody>
          <a:bodyPr/>
          <a:lstStyle/>
          <a:p>
            <a:pPr marL="12700">
              <a:lnSpc>
                <a:spcPts val="675"/>
              </a:lnSpc>
            </a:pPr>
            <a:r>
              <a:rPr lang="en-IN"/>
              <a:t>August 4, 2025</a:t>
            </a:r>
            <a:endParaRPr lang="en-IN" spc="-20" dirty="0"/>
          </a:p>
        </p:txBody>
      </p:sp>
      <p:sp>
        <p:nvSpPr>
          <p:cNvPr id="19" name="Slide Number Placeholder 18">
            <a:extLst>
              <a:ext uri="{FF2B5EF4-FFF2-40B4-BE49-F238E27FC236}">
                <a16:creationId xmlns:a16="http://schemas.microsoft.com/office/drawing/2014/main" id="{AEA1F25E-2E18-231F-8969-6975F72DB18E}"/>
              </a:ext>
            </a:extLst>
          </p:cNvPr>
          <p:cNvSpPr>
            <a:spLocks noGrp="1"/>
          </p:cNvSpPr>
          <p:nvPr>
            <p:ph type="sldNum" sz="quarter" idx="7"/>
          </p:nvPr>
        </p:nvSpPr>
        <p:spPr>
          <a:xfrm>
            <a:off x="4286250" y="3351784"/>
            <a:ext cx="254000" cy="89768"/>
          </a:xfrm>
        </p:spPr>
        <p:txBody>
          <a:bodyPr/>
          <a:lstStyle/>
          <a:p>
            <a:pPr marL="12700">
              <a:lnSpc>
                <a:spcPts val="675"/>
              </a:lnSpc>
            </a:pPr>
            <a:fld id="{81D60167-4931-47E6-BA6A-407CBD079E47}" type="slidenum">
              <a:rPr lang="en-IN" spc="-10" smtClean="0"/>
              <a:t>10</a:t>
            </a:fld>
            <a:r>
              <a:rPr lang="en-IN" spc="-85" dirty="0"/>
              <a:t> </a:t>
            </a:r>
            <a:r>
              <a:rPr lang="en-IN" spc="90" dirty="0"/>
              <a:t>/</a:t>
            </a:r>
            <a:r>
              <a:rPr lang="en-IN" spc="-85" dirty="0"/>
              <a:t> </a:t>
            </a:r>
            <a:r>
              <a:rPr lang="en-IN" spc="-35" dirty="0"/>
              <a:t>19</a:t>
            </a:r>
          </a:p>
        </p:txBody>
      </p:sp>
      <p:sp>
        <p:nvSpPr>
          <p:cNvPr id="21" name="TextBox 20">
            <a:extLst>
              <a:ext uri="{FF2B5EF4-FFF2-40B4-BE49-F238E27FC236}">
                <a16:creationId xmlns:a16="http://schemas.microsoft.com/office/drawing/2014/main" id="{15DA87DC-AC37-0803-9B46-B11C255BF8F3}"/>
              </a:ext>
            </a:extLst>
          </p:cNvPr>
          <p:cNvSpPr txBox="1"/>
          <p:nvPr/>
        </p:nvSpPr>
        <p:spPr>
          <a:xfrm>
            <a:off x="-1" y="35609"/>
            <a:ext cx="3455327" cy="369332"/>
          </a:xfrm>
          <a:prstGeom prst="rect">
            <a:avLst/>
          </a:prstGeom>
          <a:noFill/>
        </p:spPr>
        <p:txBody>
          <a:bodyPr wrap="square">
            <a:spAutoFit/>
          </a:bodyPr>
          <a:lstStyle/>
          <a:p>
            <a:r>
              <a:rPr lang="en-IN" sz="1800" spc="-45" dirty="0">
                <a:solidFill>
                  <a:srgbClr val="FFFFFF"/>
                </a:solidFill>
              </a:rPr>
              <a:t>Review</a:t>
            </a:r>
            <a:r>
              <a:rPr lang="en-IN" sz="1800" spc="-60" dirty="0">
                <a:solidFill>
                  <a:srgbClr val="FFFFFF"/>
                </a:solidFill>
              </a:rPr>
              <a:t> </a:t>
            </a:r>
            <a:r>
              <a:rPr lang="en-IN" sz="1800" dirty="0">
                <a:solidFill>
                  <a:srgbClr val="FFFFFF"/>
                </a:solidFill>
              </a:rPr>
              <a:t>of</a:t>
            </a:r>
            <a:r>
              <a:rPr lang="en-IN" sz="1800" spc="-55" dirty="0">
                <a:solidFill>
                  <a:srgbClr val="FFFFFF"/>
                </a:solidFill>
              </a:rPr>
              <a:t> </a:t>
            </a:r>
            <a:r>
              <a:rPr lang="en-IN" sz="1800" spc="-30" dirty="0">
                <a:solidFill>
                  <a:srgbClr val="FFFFFF"/>
                </a:solidFill>
              </a:rPr>
              <a:t>existing</a:t>
            </a:r>
            <a:r>
              <a:rPr lang="en-IN" sz="1800" spc="-55" dirty="0">
                <a:solidFill>
                  <a:srgbClr val="FFFFFF"/>
                </a:solidFill>
              </a:rPr>
              <a:t> </a:t>
            </a:r>
            <a:r>
              <a:rPr lang="en-IN" sz="1800" spc="-25" dirty="0">
                <a:solidFill>
                  <a:srgbClr val="FFFFFF"/>
                </a:solidFill>
              </a:rPr>
              <a:t>product</a:t>
            </a:r>
            <a:endParaRPr lang="en-IN" dirty="0"/>
          </a:p>
        </p:txBody>
      </p:sp>
    </p:spTree>
    <p:extLst>
      <p:ext uri="{BB962C8B-B14F-4D97-AF65-F5344CB8AC3E}">
        <p14:creationId xmlns:p14="http://schemas.microsoft.com/office/powerpoint/2010/main" val="1624760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EF94FD-7D1F-1863-07E1-D525B0785A00}"/>
              </a:ext>
            </a:extLst>
          </p:cNvPr>
          <p:cNvSpPr txBox="1"/>
          <p:nvPr/>
        </p:nvSpPr>
        <p:spPr>
          <a:xfrm>
            <a:off x="704850" y="358775"/>
            <a:ext cx="2971800" cy="230832"/>
          </a:xfrm>
          <a:prstGeom prst="rect">
            <a:avLst/>
          </a:prstGeom>
          <a:noFill/>
        </p:spPr>
        <p:txBody>
          <a:bodyPr wrap="square">
            <a:spAutoFit/>
          </a:bodyPr>
          <a:lstStyle/>
          <a:p>
            <a:pPr algn="ctr"/>
            <a:r>
              <a:rPr lang="en-IN" sz="900" b="1" dirty="0"/>
              <a:t>Helios (Open-Source Academic System)</a:t>
            </a:r>
          </a:p>
        </p:txBody>
      </p:sp>
      <p:sp>
        <p:nvSpPr>
          <p:cNvPr id="7" name="TextBox 6">
            <a:extLst>
              <a:ext uri="{FF2B5EF4-FFF2-40B4-BE49-F238E27FC236}">
                <a16:creationId xmlns:a16="http://schemas.microsoft.com/office/drawing/2014/main" id="{B5943293-6C2F-CE70-8841-3E8D12A176F0}"/>
              </a:ext>
            </a:extLst>
          </p:cNvPr>
          <p:cNvSpPr txBox="1"/>
          <p:nvPr/>
        </p:nvSpPr>
        <p:spPr>
          <a:xfrm>
            <a:off x="361950" y="595014"/>
            <a:ext cx="3848100" cy="5078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900" b="1" dirty="0"/>
              <a:t>🔧  How it works  </a:t>
            </a:r>
          </a:p>
          <a:p>
            <a:r>
              <a:rPr lang="en-US" sz="900" dirty="0"/>
              <a:t>   • Web-based bulletin board; homomorphic tally; public audit of ciphertexts  </a:t>
            </a:r>
          </a:p>
          <a:p>
            <a:r>
              <a:rPr lang="en-US" sz="900" dirty="0"/>
              <a:t>   • Used in universities &amp; </a:t>
            </a:r>
            <a:r>
              <a:rPr lang="en-US" sz="900" dirty="0" err="1"/>
              <a:t>labour</a:t>
            </a:r>
            <a:r>
              <a:rPr lang="en-US" sz="900" dirty="0"/>
              <a:t>-union elections worldwide</a:t>
            </a:r>
            <a:endParaRPr lang="en-IN" sz="900" dirty="0"/>
          </a:p>
        </p:txBody>
      </p:sp>
      <p:sp>
        <p:nvSpPr>
          <p:cNvPr id="9" name="TextBox 8">
            <a:extLst>
              <a:ext uri="{FF2B5EF4-FFF2-40B4-BE49-F238E27FC236}">
                <a16:creationId xmlns:a16="http://schemas.microsoft.com/office/drawing/2014/main" id="{F443FDC7-5B64-58E5-84BF-CD41EF9509F2}"/>
              </a:ext>
            </a:extLst>
          </p:cNvPr>
          <p:cNvSpPr txBox="1"/>
          <p:nvPr/>
        </p:nvSpPr>
        <p:spPr>
          <a:xfrm>
            <a:off x="361950" y="1196975"/>
            <a:ext cx="388620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Where used  </a:t>
            </a:r>
          </a:p>
          <a:p>
            <a:pPr algn="ctr"/>
            <a:r>
              <a:rPr lang="en-IN" sz="900" dirty="0"/>
              <a:t>   • 2008-present: Princeton grad council, Belgian student unions, etc.</a:t>
            </a:r>
          </a:p>
        </p:txBody>
      </p:sp>
      <p:sp>
        <p:nvSpPr>
          <p:cNvPr id="11" name="TextBox 10">
            <a:extLst>
              <a:ext uri="{FF2B5EF4-FFF2-40B4-BE49-F238E27FC236}">
                <a16:creationId xmlns:a16="http://schemas.microsoft.com/office/drawing/2014/main" id="{2F13F933-D857-2E90-D783-0D3C16DB2C02}"/>
              </a:ext>
            </a:extLst>
          </p:cNvPr>
          <p:cNvSpPr txBox="1"/>
          <p:nvPr/>
        </p:nvSpPr>
        <p:spPr>
          <a:xfrm>
            <a:off x="361950" y="1714500"/>
            <a:ext cx="38862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Key gaps  </a:t>
            </a:r>
          </a:p>
          <a:p>
            <a:pPr algn="ctr"/>
            <a:r>
              <a:rPr lang="en-IN" sz="900" dirty="0"/>
              <a:t>   • Browser malware can leak your vote before encryption  </a:t>
            </a:r>
          </a:p>
          <a:p>
            <a:pPr algn="ctr"/>
            <a:r>
              <a:rPr lang="en-IN" sz="900" dirty="0"/>
              <a:t>   • User must actively download proof and self-audit → low adoption  </a:t>
            </a:r>
          </a:p>
          <a:p>
            <a:pPr algn="ctr"/>
            <a:r>
              <a:rPr lang="en-IN" sz="900" dirty="0"/>
              <a:t>   • No built-in voter eligibility check (trusts email lists) </a:t>
            </a:r>
          </a:p>
        </p:txBody>
      </p:sp>
      <p:sp>
        <p:nvSpPr>
          <p:cNvPr id="13" name="TextBox 12">
            <a:extLst>
              <a:ext uri="{FF2B5EF4-FFF2-40B4-BE49-F238E27FC236}">
                <a16:creationId xmlns:a16="http://schemas.microsoft.com/office/drawing/2014/main" id="{F7206011-1E93-0004-ABF8-B4E0D248CFBB}"/>
              </a:ext>
            </a:extLst>
          </p:cNvPr>
          <p:cNvSpPr txBox="1"/>
          <p:nvPr/>
        </p:nvSpPr>
        <p:spPr>
          <a:xfrm>
            <a:off x="361950" y="2484219"/>
            <a:ext cx="38862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900" b="1" dirty="0"/>
              <a:t>💡  Lesson for BharatVote  </a:t>
            </a:r>
          </a:p>
          <a:p>
            <a:r>
              <a:rPr lang="en-IN" sz="900" dirty="0"/>
              <a:t>   → </a:t>
            </a:r>
            <a:r>
              <a:rPr lang="en-IN" sz="900" b="1" dirty="0"/>
              <a:t>Commit-reveal</a:t>
            </a:r>
            <a:r>
              <a:rPr lang="en-IN" sz="900" dirty="0"/>
              <a:t> hides vote even on compromised device  </a:t>
            </a:r>
          </a:p>
          <a:p>
            <a:r>
              <a:rPr lang="en-IN" sz="900" dirty="0"/>
              <a:t>   → Auto-generate simple </a:t>
            </a:r>
            <a:r>
              <a:rPr lang="en-IN" sz="900" b="1" dirty="0"/>
              <a:t>Tx-hash receipt </a:t>
            </a:r>
            <a:r>
              <a:rPr lang="en-IN" sz="900" dirty="0"/>
              <a:t>instead of manual proofs  </a:t>
            </a:r>
          </a:p>
          <a:p>
            <a:r>
              <a:rPr lang="en-IN" sz="900" dirty="0"/>
              <a:t>   → Add </a:t>
            </a:r>
            <a:r>
              <a:rPr lang="en-IN" sz="900" b="1" dirty="0"/>
              <a:t>Merkle whitelist</a:t>
            </a:r>
            <a:r>
              <a:rPr lang="en-IN" sz="900" dirty="0"/>
              <a:t> to enforce eligibility on-chain</a:t>
            </a:r>
          </a:p>
        </p:txBody>
      </p:sp>
      <p:grpSp>
        <p:nvGrpSpPr>
          <p:cNvPr id="14" name="object 8">
            <a:extLst>
              <a:ext uri="{FF2B5EF4-FFF2-40B4-BE49-F238E27FC236}">
                <a16:creationId xmlns:a16="http://schemas.microsoft.com/office/drawing/2014/main" id="{75380C3C-468E-208E-ADBF-7D8A85A476A5}"/>
              </a:ext>
            </a:extLst>
          </p:cNvPr>
          <p:cNvGrpSpPr/>
          <p:nvPr/>
        </p:nvGrpSpPr>
        <p:grpSpPr>
          <a:xfrm>
            <a:off x="0" y="3346348"/>
            <a:ext cx="4608195" cy="109855"/>
            <a:chOff x="0" y="3346348"/>
            <a:chExt cx="4608195" cy="109855"/>
          </a:xfrm>
        </p:grpSpPr>
        <p:sp>
          <p:nvSpPr>
            <p:cNvPr id="15" name="object 9">
              <a:extLst>
                <a:ext uri="{FF2B5EF4-FFF2-40B4-BE49-F238E27FC236}">
                  <a16:creationId xmlns:a16="http://schemas.microsoft.com/office/drawing/2014/main" id="{930CE857-ECC8-96EA-857E-A0A7A8B1314E}"/>
                </a:ext>
              </a:extLst>
            </p:cNvPr>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16" name="object 10">
              <a:extLst>
                <a:ext uri="{FF2B5EF4-FFF2-40B4-BE49-F238E27FC236}">
                  <a16:creationId xmlns:a16="http://schemas.microsoft.com/office/drawing/2014/main" id="{33D9D264-1E3F-FA38-5093-C253F91B884D}"/>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pPr algn="ctr"/>
              <a:r>
                <a:rPr lang="en-US" sz="700" dirty="0">
                  <a:solidFill>
                    <a:srgbClr val="FFFFFF"/>
                  </a:solidFill>
                  <a:latin typeface="Tahoma"/>
                  <a:cs typeface="Tahoma"/>
                </a:rPr>
                <a:t>BharatVote</a:t>
              </a:r>
              <a:endParaRPr lang="en-US" sz="700" dirty="0">
                <a:latin typeface="Tahoma"/>
                <a:cs typeface="Tahoma"/>
              </a:endParaRPr>
            </a:p>
            <a:p>
              <a:endParaRPr sz="800" dirty="0">
                <a:solidFill>
                  <a:schemeClr val="bg1"/>
                </a:solidFill>
              </a:endParaRPr>
            </a:p>
          </p:txBody>
        </p:sp>
        <p:sp>
          <p:nvSpPr>
            <p:cNvPr id="17" name="object 11">
              <a:extLst>
                <a:ext uri="{FF2B5EF4-FFF2-40B4-BE49-F238E27FC236}">
                  <a16:creationId xmlns:a16="http://schemas.microsoft.com/office/drawing/2014/main" id="{463A8C81-E906-18E1-464A-C6ABBDCF1CF6}"/>
                </a:ext>
              </a:extLst>
            </p:cNvPr>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8" name="Footer Placeholder 17">
            <a:extLst>
              <a:ext uri="{FF2B5EF4-FFF2-40B4-BE49-F238E27FC236}">
                <a16:creationId xmlns:a16="http://schemas.microsoft.com/office/drawing/2014/main" id="{D86D23D1-130E-55A3-AAEF-45833328ECF9}"/>
              </a:ext>
            </a:extLst>
          </p:cNvPr>
          <p:cNvSpPr>
            <a:spLocks noGrp="1"/>
          </p:cNvSpPr>
          <p:nvPr>
            <p:ph type="ftr" sz="quarter" idx="5"/>
          </p:nvPr>
        </p:nvSpPr>
        <p:spPr/>
        <p:txBody>
          <a:bodyPr/>
          <a:lstStyle/>
          <a:p>
            <a:pPr marL="12700">
              <a:lnSpc>
                <a:spcPts val="675"/>
              </a:lnSpc>
            </a:pPr>
            <a:r>
              <a:rPr lang="en-IN" dirty="0"/>
              <a:t>August 4, 2025</a:t>
            </a:r>
            <a:endParaRPr lang="en-IN" spc="-20" dirty="0"/>
          </a:p>
        </p:txBody>
      </p:sp>
      <p:sp>
        <p:nvSpPr>
          <p:cNvPr id="19" name="Slide Number Placeholder 18">
            <a:extLst>
              <a:ext uri="{FF2B5EF4-FFF2-40B4-BE49-F238E27FC236}">
                <a16:creationId xmlns:a16="http://schemas.microsoft.com/office/drawing/2014/main" id="{29FD8F32-B6D4-C4D9-7B83-AB0B01D00012}"/>
              </a:ext>
            </a:extLst>
          </p:cNvPr>
          <p:cNvSpPr>
            <a:spLocks noGrp="1"/>
          </p:cNvSpPr>
          <p:nvPr>
            <p:ph type="sldNum" sz="quarter" idx="7"/>
          </p:nvPr>
        </p:nvSpPr>
        <p:spPr>
          <a:xfrm>
            <a:off x="4299325" y="3351784"/>
            <a:ext cx="254000" cy="89768"/>
          </a:xfrm>
        </p:spPr>
        <p:txBody>
          <a:bodyPr/>
          <a:lstStyle/>
          <a:p>
            <a:pPr marL="12700">
              <a:lnSpc>
                <a:spcPts val="675"/>
              </a:lnSpc>
            </a:pPr>
            <a:fld id="{81D60167-4931-47E6-BA6A-407CBD079E47}" type="slidenum">
              <a:rPr lang="en-IN" spc="-10" smtClean="0"/>
              <a:t>11</a:t>
            </a:fld>
            <a:r>
              <a:rPr lang="en-IN" spc="-85" dirty="0"/>
              <a:t> </a:t>
            </a:r>
            <a:r>
              <a:rPr lang="en-IN" spc="90" dirty="0"/>
              <a:t>/</a:t>
            </a:r>
            <a:r>
              <a:rPr lang="en-IN" spc="-85" dirty="0"/>
              <a:t> </a:t>
            </a:r>
            <a:r>
              <a:rPr lang="en-IN" spc="-35" dirty="0"/>
              <a:t>19</a:t>
            </a:r>
          </a:p>
        </p:txBody>
      </p:sp>
      <p:sp>
        <p:nvSpPr>
          <p:cNvPr id="21" name="TextBox 20">
            <a:extLst>
              <a:ext uri="{FF2B5EF4-FFF2-40B4-BE49-F238E27FC236}">
                <a16:creationId xmlns:a16="http://schemas.microsoft.com/office/drawing/2014/main" id="{45E4D485-7C57-3461-B35A-AC21942E40A1}"/>
              </a:ext>
            </a:extLst>
          </p:cNvPr>
          <p:cNvSpPr txBox="1"/>
          <p:nvPr/>
        </p:nvSpPr>
        <p:spPr>
          <a:xfrm>
            <a:off x="25508" y="-20678"/>
            <a:ext cx="3218804" cy="369332"/>
          </a:xfrm>
          <a:prstGeom prst="rect">
            <a:avLst/>
          </a:prstGeom>
          <a:noFill/>
        </p:spPr>
        <p:txBody>
          <a:bodyPr wrap="square">
            <a:spAutoFit/>
          </a:bodyPr>
          <a:lstStyle/>
          <a:p>
            <a:r>
              <a:rPr lang="en-IN" sz="1800" spc="-45" dirty="0">
                <a:solidFill>
                  <a:srgbClr val="FFFFFF"/>
                </a:solidFill>
              </a:rPr>
              <a:t>Review</a:t>
            </a:r>
            <a:r>
              <a:rPr lang="en-IN" sz="1800" spc="-60" dirty="0">
                <a:solidFill>
                  <a:srgbClr val="FFFFFF"/>
                </a:solidFill>
              </a:rPr>
              <a:t> </a:t>
            </a:r>
            <a:r>
              <a:rPr lang="en-IN" sz="1800" dirty="0">
                <a:solidFill>
                  <a:srgbClr val="FFFFFF"/>
                </a:solidFill>
              </a:rPr>
              <a:t>of</a:t>
            </a:r>
            <a:r>
              <a:rPr lang="en-IN" sz="1800" spc="-55" dirty="0">
                <a:solidFill>
                  <a:srgbClr val="FFFFFF"/>
                </a:solidFill>
              </a:rPr>
              <a:t> </a:t>
            </a:r>
            <a:r>
              <a:rPr lang="en-IN" sz="1800" spc="-30" dirty="0">
                <a:solidFill>
                  <a:srgbClr val="FFFFFF"/>
                </a:solidFill>
              </a:rPr>
              <a:t>existing</a:t>
            </a:r>
            <a:r>
              <a:rPr lang="en-IN" sz="1800" spc="-55" dirty="0">
                <a:solidFill>
                  <a:srgbClr val="FFFFFF"/>
                </a:solidFill>
              </a:rPr>
              <a:t> </a:t>
            </a:r>
            <a:r>
              <a:rPr lang="en-IN" sz="1800" spc="-25" dirty="0">
                <a:solidFill>
                  <a:srgbClr val="FFFFFF"/>
                </a:solidFill>
              </a:rPr>
              <a:t>product</a:t>
            </a:r>
            <a:endParaRPr lang="en-IN" dirty="0"/>
          </a:p>
        </p:txBody>
      </p:sp>
    </p:spTree>
    <p:extLst>
      <p:ext uri="{BB962C8B-B14F-4D97-AF65-F5344CB8AC3E}">
        <p14:creationId xmlns:p14="http://schemas.microsoft.com/office/powerpoint/2010/main" val="838923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2530475" cy="244475"/>
          </a:xfrm>
          <a:prstGeom prst="rect">
            <a:avLst/>
          </a:prstGeom>
        </p:spPr>
        <p:txBody>
          <a:bodyPr vert="horz" wrap="square" lIns="0" tIns="17145" rIns="0" bIns="0" rtlCol="0">
            <a:spAutoFit/>
          </a:bodyPr>
          <a:lstStyle/>
          <a:p>
            <a:pPr marL="12700">
              <a:lnSpc>
                <a:spcPct val="100000"/>
              </a:lnSpc>
              <a:spcBef>
                <a:spcPts val="135"/>
              </a:spcBef>
            </a:pPr>
            <a:r>
              <a:rPr sz="1400" spc="-35" dirty="0">
                <a:solidFill>
                  <a:srgbClr val="FFFFFF"/>
                </a:solidFill>
                <a:latin typeface="Tahoma"/>
                <a:cs typeface="Tahoma"/>
              </a:rPr>
              <a:t>Important</a:t>
            </a:r>
            <a:r>
              <a:rPr sz="1400" spc="-75" dirty="0">
                <a:solidFill>
                  <a:srgbClr val="FFFFFF"/>
                </a:solidFill>
                <a:latin typeface="Tahoma"/>
                <a:cs typeface="Tahoma"/>
              </a:rPr>
              <a:t> </a:t>
            </a:r>
            <a:r>
              <a:rPr sz="1400" spc="-45" dirty="0">
                <a:solidFill>
                  <a:srgbClr val="FFFFFF"/>
                </a:solidFill>
                <a:latin typeface="Tahoma"/>
                <a:cs typeface="Tahoma"/>
              </a:rPr>
              <a:t>features</a:t>
            </a:r>
            <a:r>
              <a:rPr sz="1400" spc="-65" dirty="0">
                <a:solidFill>
                  <a:srgbClr val="FFFFFF"/>
                </a:solidFill>
                <a:latin typeface="Tahoma"/>
                <a:cs typeface="Tahoma"/>
              </a:rPr>
              <a:t> </a:t>
            </a:r>
            <a:r>
              <a:rPr sz="1400" dirty="0">
                <a:solidFill>
                  <a:srgbClr val="FFFFFF"/>
                </a:solidFill>
                <a:latin typeface="Tahoma"/>
                <a:cs typeface="Tahoma"/>
              </a:rPr>
              <a:t>of</a:t>
            </a:r>
            <a:r>
              <a:rPr sz="1400" spc="-70" dirty="0">
                <a:solidFill>
                  <a:srgbClr val="FFFFFF"/>
                </a:solidFill>
                <a:latin typeface="Tahoma"/>
                <a:cs typeface="Tahoma"/>
              </a:rPr>
              <a:t> </a:t>
            </a:r>
            <a:r>
              <a:rPr sz="1400" dirty="0">
                <a:solidFill>
                  <a:srgbClr val="FFFFFF"/>
                </a:solidFill>
                <a:latin typeface="Tahoma"/>
                <a:cs typeface="Tahoma"/>
              </a:rPr>
              <a:t>the</a:t>
            </a:r>
            <a:r>
              <a:rPr sz="1400" spc="-70" dirty="0">
                <a:solidFill>
                  <a:srgbClr val="FFFFFF"/>
                </a:solidFill>
                <a:latin typeface="Tahoma"/>
                <a:cs typeface="Tahoma"/>
              </a:rPr>
              <a:t> </a:t>
            </a:r>
            <a:r>
              <a:rPr sz="1400" spc="-25" dirty="0">
                <a:solidFill>
                  <a:srgbClr val="FFFFFF"/>
                </a:solidFill>
                <a:latin typeface="Tahoma"/>
                <a:cs typeface="Tahoma"/>
              </a:rPr>
              <a:t>product</a:t>
            </a:r>
            <a:endParaRPr sz="1400" dirty="0">
              <a:latin typeface="Tahoma"/>
              <a:cs typeface="Tahoma"/>
            </a:endParaRPr>
          </a:p>
        </p:txBody>
      </p:sp>
      <p:sp>
        <p:nvSpPr>
          <p:cNvPr id="10" name="object 10"/>
          <p:cNvSpPr txBox="1"/>
          <p:nvPr/>
        </p:nvSpPr>
        <p:spPr>
          <a:xfrm>
            <a:off x="1821992" y="3351784"/>
            <a:ext cx="963930" cy="102235"/>
          </a:xfrm>
          <a:prstGeom prst="rect">
            <a:avLst/>
          </a:prstGeom>
        </p:spPr>
        <p:txBody>
          <a:bodyPr vert="horz" wrap="square" lIns="0" tIns="0" rIns="0" bIns="0" rtlCol="0">
            <a:spAutoFit/>
          </a:bodyPr>
          <a:lstStyle/>
          <a:p>
            <a:pPr marL="12700">
              <a:lnSpc>
                <a:spcPts val="675"/>
              </a:lnSpc>
            </a:pPr>
            <a:r>
              <a:rPr sz="600" dirty="0">
                <a:solidFill>
                  <a:srgbClr val="FFFFFF"/>
                </a:solidFill>
                <a:latin typeface="Tahoma"/>
                <a:cs typeface="Tahoma"/>
                <a:hlinkClick r:id="rId2" action="ppaction://hlinksldjump"/>
              </a:rPr>
              <a:t>Title</a:t>
            </a:r>
            <a:r>
              <a:rPr sz="600" spc="45" dirty="0">
                <a:solidFill>
                  <a:srgbClr val="FFFFFF"/>
                </a:solidFill>
                <a:latin typeface="Tahoma"/>
                <a:cs typeface="Tahoma"/>
                <a:hlinkClick r:id="rId2" action="ppaction://hlinksldjump"/>
              </a:rPr>
              <a:t> </a:t>
            </a:r>
            <a:r>
              <a:rPr sz="600" dirty="0">
                <a:solidFill>
                  <a:srgbClr val="FFFFFF"/>
                </a:solidFill>
                <a:latin typeface="Tahoma"/>
                <a:cs typeface="Tahoma"/>
                <a:hlinkClick r:id="rId2" action="ppaction://hlinksldjump"/>
              </a:rPr>
              <a:t>of</a:t>
            </a:r>
            <a:r>
              <a:rPr sz="600" spc="45" dirty="0">
                <a:solidFill>
                  <a:srgbClr val="FFFFFF"/>
                </a:solidFill>
                <a:latin typeface="Tahoma"/>
                <a:cs typeface="Tahoma"/>
                <a:hlinkClick r:id="rId2" action="ppaction://hlinksldjump"/>
              </a:rPr>
              <a:t> </a:t>
            </a:r>
            <a:r>
              <a:rPr sz="600" dirty="0">
                <a:solidFill>
                  <a:srgbClr val="FFFFFF"/>
                </a:solidFill>
                <a:latin typeface="Tahoma"/>
                <a:cs typeface="Tahoma"/>
                <a:hlinkClick r:id="rId2" action="ppaction://hlinksldjump"/>
              </a:rPr>
              <a:t>the</a:t>
            </a:r>
            <a:r>
              <a:rPr sz="600" spc="50" dirty="0">
                <a:solidFill>
                  <a:srgbClr val="FFFFFF"/>
                </a:solidFill>
                <a:latin typeface="Tahoma"/>
                <a:cs typeface="Tahoma"/>
                <a:hlinkClick r:id="rId2" action="ppaction://hlinksldjump"/>
              </a:rPr>
              <a:t> </a:t>
            </a:r>
            <a:r>
              <a:rPr sz="600" spc="-10" dirty="0">
                <a:solidFill>
                  <a:srgbClr val="FFFFFF"/>
                </a:solidFill>
                <a:latin typeface="Tahoma"/>
                <a:cs typeface="Tahoma"/>
                <a:hlinkClick r:id="rId2" action="ppaction://hlinksldjump"/>
              </a:rPr>
              <a:t>project/product</a:t>
            </a:r>
            <a:endParaRPr sz="600" dirty="0">
              <a:latin typeface="Tahoma"/>
              <a:cs typeface="Tahoma"/>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2" name="object 12"/>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12</a:t>
            </a:fld>
            <a:r>
              <a:rPr spc="-85" dirty="0"/>
              <a:t> </a:t>
            </a:r>
            <a:r>
              <a:rPr spc="90" dirty="0"/>
              <a:t>/</a:t>
            </a:r>
            <a:r>
              <a:rPr spc="-85" dirty="0"/>
              <a:t> </a:t>
            </a:r>
            <a:r>
              <a:rPr spc="-35" dirty="0"/>
              <a:t>15</a:t>
            </a:r>
          </a:p>
        </p:txBody>
      </p:sp>
      <p:graphicFrame>
        <p:nvGraphicFramePr>
          <p:cNvPr id="17" name="Table 16">
            <a:extLst>
              <a:ext uri="{FF2B5EF4-FFF2-40B4-BE49-F238E27FC236}">
                <a16:creationId xmlns:a16="http://schemas.microsoft.com/office/drawing/2014/main" id="{5D6F0C5D-46A5-4A5E-13A0-118D5F837731}"/>
              </a:ext>
            </a:extLst>
          </p:cNvPr>
          <p:cNvGraphicFramePr>
            <a:graphicFrameLocks noGrp="1"/>
          </p:cNvGraphicFramePr>
          <p:nvPr>
            <p:extLst>
              <p:ext uri="{D42A27DB-BD31-4B8C-83A1-F6EECF244321}">
                <p14:modId xmlns:p14="http://schemas.microsoft.com/office/powerpoint/2010/main" val="708102301"/>
              </p:ext>
            </p:extLst>
          </p:nvPr>
        </p:nvGraphicFramePr>
        <p:xfrm>
          <a:off x="247650" y="587375"/>
          <a:ext cx="4191000" cy="2438401"/>
        </p:xfrm>
        <a:graphic>
          <a:graphicData uri="http://schemas.openxmlformats.org/drawingml/2006/table">
            <a:tbl>
              <a:tblPr>
                <a:tableStyleId>{0505E3EF-67EA-436B-97B2-0124C06EBD24}</a:tableStyleId>
              </a:tblPr>
              <a:tblGrid>
                <a:gridCol w="2095500">
                  <a:extLst>
                    <a:ext uri="{9D8B030D-6E8A-4147-A177-3AD203B41FA5}">
                      <a16:colId xmlns:a16="http://schemas.microsoft.com/office/drawing/2014/main" val="1491897096"/>
                    </a:ext>
                  </a:extLst>
                </a:gridCol>
                <a:gridCol w="2095500">
                  <a:extLst>
                    <a:ext uri="{9D8B030D-6E8A-4147-A177-3AD203B41FA5}">
                      <a16:colId xmlns:a16="http://schemas.microsoft.com/office/drawing/2014/main" val="495966635"/>
                    </a:ext>
                  </a:extLst>
                </a:gridCol>
              </a:tblGrid>
              <a:tr h="182581">
                <a:tc>
                  <a:txBody>
                    <a:bodyPr/>
                    <a:lstStyle/>
                    <a:p>
                      <a:pPr algn="ctr"/>
                      <a:r>
                        <a:rPr lang="en-IN" sz="900"/>
                        <a:t>✅ Feature</a:t>
                      </a:r>
                    </a:p>
                  </a:txBody>
                  <a:tcPr marL="12761" marR="12761" marT="6381" marB="6381" anchor="ctr"/>
                </a:tc>
                <a:tc>
                  <a:txBody>
                    <a:bodyPr/>
                    <a:lstStyle/>
                    <a:p>
                      <a:pPr algn="ctr"/>
                      <a:r>
                        <a:rPr lang="en-US" sz="900" dirty="0"/>
                        <a:t>Why It Matters to Users</a:t>
                      </a:r>
                    </a:p>
                  </a:txBody>
                  <a:tcPr marL="12761" marR="12761" marT="6381" marB="6381" anchor="ctr"/>
                </a:tc>
                <a:extLst>
                  <a:ext uri="{0D108BD9-81ED-4DB2-BD59-A6C34878D82A}">
                    <a16:rowId xmlns:a16="http://schemas.microsoft.com/office/drawing/2014/main" val="379876333"/>
                  </a:ext>
                </a:extLst>
              </a:tr>
              <a:tr h="383298">
                <a:tc>
                  <a:txBody>
                    <a:bodyPr/>
                    <a:lstStyle/>
                    <a:p>
                      <a:pPr algn="ctr"/>
                      <a:r>
                        <a:rPr lang="en-IN" sz="900" b="1"/>
                        <a:t>Commit–Reveal Privacy</a:t>
                      </a:r>
                      <a:endParaRPr lang="en-IN" sz="900"/>
                    </a:p>
                  </a:txBody>
                  <a:tcPr marL="12761" marR="12761" marT="6381" marB="6381" anchor="ctr"/>
                </a:tc>
                <a:tc>
                  <a:txBody>
                    <a:bodyPr/>
                    <a:lstStyle/>
                    <a:p>
                      <a:pPr algn="ctr"/>
                      <a:r>
                        <a:rPr lang="en-US" sz="900"/>
                        <a:t>Ballot stays secret until polls close → no early-trend manipulation</a:t>
                      </a:r>
                    </a:p>
                  </a:txBody>
                  <a:tcPr marL="12761" marR="12761" marT="6381" marB="6381" anchor="ctr"/>
                </a:tc>
                <a:extLst>
                  <a:ext uri="{0D108BD9-81ED-4DB2-BD59-A6C34878D82A}">
                    <a16:rowId xmlns:a16="http://schemas.microsoft.com/office/drawing/2014/main" val="531914801"/>
                  </a:ext>
                </a:extLst>
              </a:tr>
              <a:tr h="383298">
                <a:tc>
                  <a:txBody>
                    <a:bodyPr/>
                    <a:lstStyle/>
                    <a:p>
                      <a:pPr algn="ctr"/>
                      <a:r>
                        <a:rPr lang="en-IN" sz="900" b="1"/>
                        <a:t>Merkle-Proof Voter Eligibility</a:t>
                      </a:r>
                      <a:endParaRPr lang="en-IN" sz="900"/>
                    </a:p>
                  </a:txBody>
                  <a:tcPr marL="12761" marR="12761" marT="6381" marB="6381" anchor="ctr"/>
                </a:tc>
                <a:tc>
                  <a:txBody>
                    <a:bodyPr/>
                    <a:lstStyle/>
                    <a:p>
                      <a:pPr algn="ctr"/>
                      <a:r>
                        <a:rPr lang="en-US" sz="900"/>
                        <a:t>Only authorised wallets can vote → blocks double / fake ballots</a:t>
                      </a:r>
                    </a:p>
                  </a:txBody>
                  <a:tcPr marL="12761" marR="12761" marT="6381" marB="6381" anchor="ctr"/>
                </a:tc>
                <a:extLst>
                  <a:ext uri="{0D108BD9-81ED-4DB2-BD59-A6C34878D82A}">
                    <a16:rowId xmlns:a16="http://schemas.microsoft.com/office/drawing/2014/main" val="3013193151"/>
                  </a:ext>
                </a:extLst>
              </a:tr>
              <a:tr h="516659">
                <a:tc>
                  <a:txBody>
                    <a:bodyPr/>
                    <a:lstStyle/>
                    <a:p>
                      <a:pPr algn="ctr"/>
                      <a:r>
                        <a:rPr lang="en-IN" sz="900" b="1"/>
                        <a:t>Device-Agnostic Remote Access</a:t>
                      </a:r>
                      <a:endParaRPr lang="en-IN" sz="900"/>
                    </a:p>
                  </a:txBody>
                  <a:tcPr marL="12761" marR="12761" marT="6381" marB="6381" anchor="ctr"/>
                </a:tc>
                <a:tc>
                  <a:txBody>
                    <a:bodyPr/>
                    <a:lstStyle/>
                    <a:p>
                      <a:pPr algn="ctr"/>
                      <a:r>
                        <a:rPr lang="en-US" sz="900"/>
                        <a:t>Browser + MetaMask or mobile app → vote anywhere, no special hardware</a:t>
                      </a:r>
                    </a:p>
                  </a:txBody>
                  <a:tcPr marL="12761" marR="12761" marT="6381" marB="6381" anchor="ctr"/>
                </a:tc>
                <a:extLst>
                  <a:ext uri="{0D108BD9-81ED-4DB2-BD59-A6C34878D82A}">
                    <a16:rowId xmlns:a16="http://schemas.microsoft.com/office/drawing/2014/main" val="2090516870"/>
                  </a:ext>
                </a:extLst>
              </a:tr>
              <a:tr h="516659">
                <a:tc>
                  <a:txBody>
                    <a:bodyPr/>
                    <a:lstStyle/>
                    <a:p>
                      <a:pPr algn="ctr"/>
                      <a:r>
                        <a:rPr lang="en-IN" sz="900" b="1"/>
                        <a:t>Real-Time Admin Dashboard</a:t>
                      </a:r>
                      <a:endParaRPr lang="en-IN" sz="900"/>
                    </a:p>
                  </a:txBody>
                  <a:tcPr marL="12761" marR="12761" marT="6381" marB="6381" anchor="ctr"/>
                </a:tc>
                <a:tc>
                  <a:txBody>
                    <a:bodyPr/>
                    <a:lstStyle/>
                    <a:p>
                      <a:pPr algn="ctr"/>
                      <a:r>
                        <a:rPr lang="en-US" sz="900"/>
                        <a:t>One-click phase switch &amp; live tally charts → zero manual counting errors</a:t>
                      </a:r>
                    </a:p>
                  </a:txBody>
                  <a:tcPr marL="12761" marR="12761" marT="6381" marB="6381" anchor="ctr"/>
                </a:tc>
                <a:extLst>
                  <a:ext uri="{0D108BD9-81ED-4DB2-BD59-A6C34878D82A}">
                    <a16:rowId xmlns:a16="http://schemas.microsoft.com/office/drawing/2014/main" val="2995840627"/>
                  </a:ext>
                </a:extLst>
              </a:tr>
              <a:tr h="455906">
                <a:tc>
                  <a:txBody>
                    <a:bodyPr/>
                    <a:lstStyle/>
                    <a:p>
                      <a:pPr algn="ctr"/>
                      <a:r>
                        <a:rPr lang="en-IN" sz="900" b="1"/>
                        <a:t>Immutable On-Chain Audit Trail</a:t>
                      </a:r>
                      <a:endParaRPr lang="en-IN" sz="900"/>
                    </a:p>
                  </a:txBody>
                  <a:tcPr marL="12761" marR="12761" marT="6381" marB="6381" anchor="ctr"/>
                </a:tc>
                <a:tc>
                  <a:txBody>
                    <a:bodyPr/>
                    <a:lstStyle/>
                    <a:p>
                      <a:pPr algn="ctr"/>
                      <a:r>
                        <a:rPr lang="en-US" sz="900" dirty="0"/>
                        <a:t>Tx-hash receipt for every voter → 100% publicly verifiable results</a:t>
                      </a:r>
                    </a:p>
                  </a:txBody>
                  <a:tcPr marL="12761" marR="12761" marT="6381" marB="6381" anchor="ctr"/>
                </a:tc>
                <a:extLst>
                  <a:ext uri="{0D108BD9-81ED-4DB2-BD59-A6C34878D82A}">
                    <a16:rowId xmlns:a16="http://schemas.microsoft.com/office/drawing/2014/main" val="1869202582"/>
                  </a:ext>
                </a:extLst>
              </a:tr>
            </a:tbl>
          </a:graphicData>
        </a:graphic>
      </p:graphicFrame>
      <p:grpSp>
        <p:nvGrpSpPr>
          <p:cNvPr id="27" name="object 8">
            <a:extLst>
              <a:ext uri="{FF2B5EF4-FFF2-40B4-BE49-F238E27FC236}">
                <a16:creationId xmlns:a16="http://schemas.microsoft.com/office/drawing/2014/main" id="{AF8D0801-B3FB-EF90-1561-27E8B776883F}"/>
              </a:ext>
            </a:extLst>
          </p:cNvPr>
          <p:cNvGrpSpPr/>
          <p:nvPr/>
        </p:nvGrpSpPr>
        <p:grpSpPr>
          <a:xfrm>
            <a:off x="0" y="3346348"/>
            <a:ext cx="4608195" cy="109855"/>
            <a:chOff x="0" y="3346348"/>
            <a:chExt cx="4608195" cy="109855"/>
          </a:xfrm>
        </p:grpSpPr>
        <p:sp>
          <p:nvSpPr>
            <p:cNvPr id="28" name="object 9">
              <a:extLst>
                <a:ext uri="{FF2B5EF4-FFF2-40B4-BE49-F238E27FC236}">
                  <a16:creationId xmlns:a16="http://schemas.microsoft.com/office/drawing/2014/main" id="{DC19040A-C829-3F2B-EE6E-9A9196BC377D}"/>
                </a:ext>
              </a:extLst>
            </p:cNvPr>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29" name="object 10">
              <a:extLst>
                <a:ext uri="{FF2B5EF4-FFF2-40B4-BE49-F238E27FC236}">
                  <a16:creationId xmlns:a16="http://schemas.microsoft.com/office/drawing/2014/main" id="{4D30A69D-EE8C-6956-12A9-78B78654B20E}"/>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pPr algn="ctr"/>
              <a:r>
                <a:rPr lang="en-US" sz="700" dirty="0">
                  <a:solidFill>
                    <a:srgbClr val="FFFFFF"/>
                  </a:solidFill>
                  <a:latin typeface="Tahoma"/>
                  <a:cs typeface="Tahoma"/>
                </a:rPr>
                <a:t>BharatVote</a:t>
              </a:r>
              <a:endParaRPr lang="en-US" sz="700" dirty="0">
                <a:latin typeface="Tahoma"/>
                <a:cs typeface="Tahoma"/>
              </a:endParaRPr>
            </a:p>
            <a:p>
              <a:endParaRPr sz="800" dirty="0">
                <a:solidFill>
                  <a:schemeClr val="bg1"/>
                </a:solidFill>
              </a:endParaRPr>
            </a:p>
          </p:txBody>
        </p:sp>
        <p:sp>
          <p:nvSpPr>
            <p:cNvPr id="30" name="object 11">
              <a:extLst>
                <a:ext uri="{FF2B5EF4-FFF2-40B4-BE49-F238E27FC236}">
                  <a16:creationId xmlns:a16="http://schemas.microsoft.com/office/drawing/2014/main" id="{EB548B65-748A-0C60-345F-DC5809D16045}"/>
                </a:ext>
              </a:extLst>
            </p:cNvPr>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36" name="TextBox 35">
            <a:extLst>
              <a:ext uri="{FF2B5EF4-FFF2-40B4-BE49-F238E27FC236}">
                <a16:creationId xmlns:a16="http://schemas.microsoft.com/office/drawing/2014/main" id="{CE5DECAF-57A8-B836-A61D-D070A88258FC}"/>
              </a:ext>
            </a:extLst>
          </p:cNvPr>
          <p:cNvSpPr txBox="1"/>
          <p:nvPr/>
        </p:nvSpPr>
        <p:spPr>
          <a:xfrm>
            <a:off x="3146800" y="3305169"/>
            <a:ext cx="849547" cy="182101"/>
          </a:xfrm>
          <a:prstGeom prst="rect">
            <a:avLst/>
          </a:prstGeom>
          <a:noFill/>
        </p:spPr>
        <p:txBody>
          <a:bodyPr wrap="square">
            <a:spAutoFit/>
          </a:bodyPr>
          <a:lstStyle/>
          <a:p>
            <a:pPr marL="12700">
              <a:lnSpc>
                <a:spcPts val="675"/>
              </a:lnSpc>
            </a:pPr>
            <a:r>
              <a:rPr lang="en-IN" sz="600" dirty="0">
                <a:solidFill>
                  <a:schemeClr val="bg1"/>
                </a:solidFill>
              </a:rPr>
              <a:t>August 4, 2025</a:t>
            </a:r>
            <a:endParaRPr lang="en-IN" sz="600" spc="-20" dirty="0">
              <a:solidFill>
                <a:schemeClr val="bg1"/>
              </a:solidFill>
            </a:endParaRPr>
          </a:p>
        </p:txBody>
      </p:sp>
      <p:sp>
        <p:nvSpPr>
          <p:cNvPr id="38" name="TextBox 37">
            <a:extLst>
              <a:ext uri="{FF2B5EF4-FFF2-40B4-BE49-F238E27FC236}">
                <a16:creationId xmlns:a16="http://schemas.microsoft.com/office/drawing/2014/main" id="{BC42F0EA-3EE4-72D0-3BA9-C92645101EFC}"/>
              </a:ext>
            </a:extLst>
          </p:cNvPr>
          <p:cNvSpPr txBox="1"/>
          <p:nvPr/>
        </p:nvSpPr>
        <p:spPr>
          <a:xfrm>
            <a:off x="4210050" y="3305169"/>
            <a:ext cx="2305050" cy="182999"/>
          </a:xfrm>
          <a:prstGeom prst="rect">
            <a:avLst/>
          </a:prstGeom>
          <a:noFill/>
        </p:spPr>
        <p:txBody>
          <a:bodyPr wrap="square">
            <a:spAutoFit/>
          </a:bodyPr>
          <a:lstStyle/>
          <a:p>
            <a:pPr marL="12700">
              <a:lnSpc>
                <a:spcPts val="675"/>
              </a:lnSpc>
            </a:pPr>
            <a:fld id="{81D60167-4931-47E6-BA6A-407CBD079E47}" type="slidenum">
              <a:rPr lang="en-IN" sz="700" spc="-10" smtClean="0">
                <a:solidFill>
                  <a:schemeClr val="bg1"/>
                </a:solidFill>
              </a:rPr>
              <a:pPr marL="12700">
                <a:lnSpc>
                  <a:spcPts val="675"/>
                </a:lnSpc>
              </a:pPr>
              <a:t>12</a:t>
            </a:fld>
            <a:r>
              <a:rPr lang="en-IN" sz="700" spc="-85" dirty="0">
                <a:solidFill>
                  <a:schemeClr val="bg1"/>
                </a:solidFill>
              </a:rPr>
              <a:t> </a:t>
            </a:r>
            <a:r>
              <a:rPr lang="en-IN" sz="700" spc="90" dirty="0">
                <a:solidFill>
                  <a:schemeClr val="bg1"/>
                </a:solidFill>
              </a:rPr>
              <a:t>/</a:t>
            </a:r>
            <a:r>
              <a:rPr lang="en-IN" sz="700" spc="-85" dirty="0">
                <a:solidFill>
                  <a:schemeClr val="bg1"/>
                </a:solidFill>
              </a:rPr>
              <a:t> </a:t>
            </a:r>
            <a:r>
              <a:rPr lang="en-IN" sz="700" spc="-35" dirty="0">
                <a:solidFill>
                  <a:schemeClr val="bg1"/>
                </a:solidFill>
              </a:rPr>
              <a:t>19</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993140" cy="232756"/>
          </a:xfrm>
          <a:prstGeom prst="rect">
            <a:avLst/>
          </a:prstGeom>
        </p:spPr>
        <p:txBody>
          <a:bodyPr vert="horz" wrap="square" lIns="0" tIns="17145" rIns="0" bIns="0" rtlCol="0">
            <a:spAutoFit/>
          </a:bodyPr>
          <a:lstStyle/>
          <a:p>
            <a:pPr marL="12700">
              <a:lnSpc>
                <a:spcPct val="100000"/>
              </a:lnSpc>
              <a:spcBef>
                <a:spcPts val="135"/>
              </a:spcBef>
            </a:pPr>
            <a:r>
              <a:rPr sz="1400" spc="-30" dirty="0">
                <a:solidFill>
                  <a:srgbClr val="FFFFFF"/>
                </a:solidFill>
                <a:latin typeface="+mj-lt"/>
                <a:cs typeface="Tahoma"/>
              </a:rPr>
              <a:t>Methodology</a:t>
            </a:r>
            <a:endParaRPr sz="1400" dirty="0">
              <a:latin typeface="+mj-lt"/>
              <a:cs typeface="Tahoma"/>
            </a:endParaRPr>
          </a:p>
        </p:txBody>
      </p:sp>
      <p:grpSp>
        <p:nvGrpSpPr>
          <p:cNvPr id="5" name="object 5"/>
          <p:cNvGrpSpPr/>
          <p:nvPr/>
        </p:nvGrpSpPr>
        <p:grpSpPr>
          <a:xfrm>
            <a:off x="0" y="3346348"/>
            <a:ext cx="4608195" cy="109855"/>
            <a:chOff x="0" y="3346348"/>
            <a:chExt cx="4608195" cy="109855"/>
          </a:xfrm>
        </p:grpSpPr>
        <p:sp>
          <p:nvSpPr>
            <p:cNvPr id="6" name="object 6"/>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latin typeface="+mj-lt"/>
              </a:endParaRPr>
            </a:p>
          </p:txBody>
        </p:sp>
        <p:sp>
          <p:nvSpPr>
            <p:cNvPr id="7" name="object 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latin typeface="+mj-lt"/>
              </a:endParaRPr>
            </a:p>
          </p:txBody>
        </p:sp>
        <p:sp>
          <p:nvSpPr>
            <p:cNvPr id="8" name="object 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latin typeface="+mj-lt"/>
              </a:endParaRPr>
            </a:p>
          </p:txBody>
        </p:sp>
      </p:grpSp>
      <p:sp>
        <p:nvSpPr>
          <p:cNvPr id="9" name="object 9"/>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p>
        </p:txBody>
      </p:sp>
      <p:sp>
        <p:nvSpPr>
          <p:cNvPr id="10" name="object 10"/>
          <p:cNvSpPr txBox="1">
            <a:spLocks noGrp="1"/>
          </p:cNvSpPr>
          <p:nvPr>
            <p:ph type="ftr" sz="quarter" idx="5"/>
          </p:nvPr>
        </p:nvSpPr>
        <p:spPr>
          <a:xfrm>
            <a:off x="3455327" y="3351784"/>
            <a:ext cx="541020" cy="89768"/>
          </a:xfrm>
          <a:prstGeom prst="rect">
            <a:avLst/>
          </a:prstGeom>
        </p:spPr>
        <p:txBody>
          <a:bodyPr vert="horz" wrap="square" lIns="0" tIns="0" rIns="0" bIns="0" rtlCol="0">
            <a:spAutoFit/>
          </a:bodyPr>
          <a:lstStyle/>
          <a:p>
            <a:pPr marL="12700">
              <a:lnSpc>
                <a:spcPts val="675"/>
              </a:lnSpc>
            </a:pPr>
            <a:r>
              <a:rPr lang="en-IN" dirty="0">
                <a:latin typeface="+mj-lt"/>
              </a:rPr>
              <a:t>August 4, 2025</a:t>
            </a:r>
            <a:endParaRPr spc="-20" dirty="0">
              <a:latin typeface="+mj-lt"/>
            </a:endParaRPr>
          </a:p>
        </p:txBody>
      </p:sp>
      <p:sp>
        <p:nvSpPr>
          <p:cNvPr id="11" name="object 11"/>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latin typeface="+mj-lt"/>
              </a:rPr>
              <a:t>13</a:t>
            </a:fld>
            <a:r>
              <a:rPr spc="-85" dirty="0">
                <a:latin typeface="+mj-lt"/>
              </a:rPr>
              <a:t> </a:t>
            </a:r>
            <a:r>
              <a:rPr spc="90" dirty="0">
                <a:latin typeface="+mj-lt"/>
              </a:rPr>
              <a:t>/</a:t>
            </a:r>
            <a:r>
              <a:rPr spc="-85" dirty="0">
                <a:latin typeface="+mj-lt"/>
              </a:rPr>
              <a:t> </a:t>
            </a:r>
            <a:r>
              <a:rPr spc="-35" dirty="0">
                <a:latin typeface="+mj-lt"/>
              </a:rPr>
              <a:t>1</a:t>
            </a:r>
            <a:r>
              <a:rPr lang="en-US" spc="-35" dirty="0">
                <a:latin typeface="+mj-lt"/>
              </a:rPr>
              <a:t>9</a:t>
            </a:r>
            <a:endParaRPr spc="-35" dirty="0">
              <a:latin typeface="+mj-lt"/>
            </a:endParaRPr>
          </a:p>
        </p:txBody>
      </p:sp>
      <p:sp>
        <p:nvSpPr>
          <p:cNvPr id="16" name="TextBox 15">
            <a:extLst>
              <a:ext uri="{FF2B5EF4-FFF2-40B4-BE49-F238E27FC236}">
                <a16:creationId xmlns:a16="http://schemas.microsoft.com/office/drawing/2014/main" id="{E522A10D-8F65-6505-0EE7-7F4614E9F2F0}"/>
              </a:ext>
            </a:extLst>
          </p:cNvPr>
          <p:cNvSpPr txBox="1"/>
          <p:nvPr/>
        </p:nvSpPr>
        <p:spPr>
          <a:xfrm>
            <a:off x="247650" y="870397"/>
            <a:ext cx="1981200"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171450" indent="-171450">
              <a:buFont typeface="Arial" panose="020B0604020202020204" pitchFamily="34" charset="0"/>
              <a:buChar char="•"/>
            </a:pPr>
            <a:r>
              <a:rPr lang="en-IN" sz="900" dirty="0">
                <a:latin typeface="+mj-lt"/>
              </a:rPr>
              <a:t>🖋️  Docs → Google Docs, Figma (key screens)  </a:t>
            </a:r>
          </a:p>
          <a:p>
            <a:pPr marL="171450" indent="-171450">
              <a:buFont typeface="Arial" panose="020B0604020202020204" pitchFamily="34" charset="0"/>
              <a:buChar char="•"/>
            </a:pPr>
            <a:r>
              <a:rPr lang="en-IN" sz="900" dirty="0">
                <a:latin typeface="+mj-lt"/>
              </a:rPr>
              <a:t>⚙️  Backend → Node.js + Express (mock KYC/OTP)  </a:t>
            </a:r>
          </a:p>
          <a:p>
            <a:pPr marL="171450" indent="-171450">
              <a:buFont typeface="Arial" panose="020B0604020202020204" pitchFamily="34" charset="0"/>
              <a:buChar char="•"/>
            </a:pPr>
            <a:r>
              <a:rPr lang="en-IN" sz="900" dirty="0">
                <a:latin typeface="+mj-lt"/>
              </a:rPr>
              <a:t>⛓️  Smart Contracts → Solidity on Hardhat, </a:t>
            </a:r>
            <a:r>
              <a:rPr lang="en-IN" sz="900" dirty="0" err="1">
                <a:latin typeface="+mj-lt"/>
              </a:rPr>
              <a:t>Sepolia</a:t>
            </a:r>
            <a:r>
              <a:rPr lang="en-IN" sz="900" dirty="0">
                <a:latin typeface="+mj-lt"/>
              </a:rPr>
              <a:t> fallback  </a:t>
            </a:r>
          </a:p>
          <a:p>
            <a:pPr marL="171450" indent="-171450">
              <a:buFont typeface="Arial" panose="020B0604020202020204" pitchFamily="34" charset="0"/>
              <a:buChar char="•"/>
            </a:pPr>
            <a:r>
              <a:rPr lang="en-IN" sz="900" dirty="0">
                <a:latin typeface="+mj-lt"/>
              </a:rPr>
              <a:t>🌐  Web → React + Vite (MetaMask)  </a:t>
            </a:r>
          </a:p>
          <a:p>
            <a:pPr marL="171450" indent="-171450">
              <a:buFont typeface="Arial" panose="020B0604020202020204" pitchFamily="34" charset="0"/>
              <a:buChar char="•"/>
            </a:pPr>
            <a:r>
              <a:rPr lang="en-IN" sz="900" dirty="0">
                <a:latin typeface="+mj-lt"/>
              </a:rPr>
              <a:t>📱  Mobile → React Native (</a:t>
            </a:r>
            <a:r>
              <a:rPr lang="en-IN" sz="900" dirty="0" err="1">
                <a:latin typeface="+mj-lt"/>
              </a:rPr>
              <a:t>WalletConnect</a:t>
            </a:r>
            <a:r>
              <a:rPr lang="en-IN" sz="900" dirty="0">
                <a:latin typeface="+mj-lt"/>
              </a:rPr>
              <a:t>)  </a:t>
            </a:r>
          </a:p>
          <a:p>
            <a:pPr marL="171450" indent="-171450">
              <a:buFont typeface="Arial" panose="020B0604020202020204" pitchFamily="34" charset="0"/>
              <a:buChar char="•"/>
            </a:pPr>
            <a:r>
              <a:rPr lang="en-IN" sz="900" dirty="0">
                <a:latin typeface="+mj-lt"/>
              </a:rPr>
              <a:t>🛠️  Testing → Hardhat test, Slither, manual click-through</a:t>
            </a:r>
          </a:p>
        </p:txBody>
      </p:sp>
      <p:sp>
        <p:nvSpPr>
          <p:cNvPr id="18" name="TextBox 17">
            <a:extLst>
              <a:ext uri="{FF2B5EF4-FFF2-40B4-BE49-F238E27FC236}">
                <a16:creationId xmlns:a16="http://schemas.microsoft.com/office/drawing/2014/main" id="{DCF2D561-4C56-9E1F-67D1-EB48549C5E40}"/>
              </a:ext>
            </a:extLst>
          </p:cNvPr>
          <p:cNvSpPr txBox="1"/>
          <p:nvPr/>
        </p:nvSpPr>
        <p:spPr>
          <a:xfrm>
            <a:off x="2305050" y="870397"/>
            <a:ext cx="2057400"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IN" sz="900" dirty="0">
                <a:latin typeface="+mj-lt"/>
              </a:rPr>
              <a:t>1️⃣  Phase 1 — Brainstorm → Proposal draft → Mentor sign-off  </a:t>
            </a:r>
          </a:p>
          <a:p>
            <a:r>
              <a:rPr lang="en-IN" sz="900" dirty="0">
                <a:latin typeface="+mj-lt"/>
              </a:rPr>
              <a:t>2️⃣  Phase 2 — Interviews → SRS → Peer proof-read  </a:t>
            </a:r>
          </a:p>
          <a:p>
            <a:r>
              <a:rPr lang="en-IN" sz="900" dirty="0">
                <a:latin typeface="+mj-lt"/>
              </a:rPr>
              <a:t>3️⃣  Phase 3 — Architecture + ERD + UI → Build prototype on dev laptop  </a:t>
            </a:r>
          </a:p>
          <a:p>
            <a:r>
              <a:rPr lang="en-IN" sz="900" dirty="0">
                <a:latin typeface="+mj-lt"/>
              </a:rPr>
              <a:t>4️⃣  Weekly sync — 30 min Google Meet with mentor; feedback logged in shared sheet  </a:t>
            </a:r>
          </a:p>
          <a:p>
            <a:r>
              <a:rPr lang="en-IN" sz="900" dirty="0">
                <a:latin typeface="+mj-lt"/>
              </a:rPr>
              <a:t>5️⃣  Prototype demo — Localhost + Android emulator; </a:t>
            </a:r>
            <a:r>
              <a:rPr lang="en-IN" sz="900" dirty="0" err="1">
                <a:latin typeface="+mj-lt"/>
              </a:rPr>
              <a:t>Sepolia</a:t>
            </a:r>
            <a:r>
              <a:rPr lang="en-IN" sz="900" dirty="0">
                <a:latin typeface="+mj-lt"/>
              </a:rPr>
              <a:t> as public-chain fallback</a:t>
            </a:r>
          </a:p>
        </p:txBody>
      </p:sp>
      <p:sp>
        <p:nvSpPr>
          <p:cNvPr id="20" name="TextBox 19">
            <a:extLst>
              <a:ext uri="{FF2B5EF4-FFF2-40B4-BE49-F238E27FC236}">
                <a16:creationId xmlns:a16="http://schemas.microsoft.com/office/drawing/2014/main" id="{294E9EB6-47F4-E324-FE21-A4B0878F8357}"/>
              </a:ext>
            </a:extLst>
          </p:cNvPr>
          <p:cNvSpPr txBox="1"/>
          <p:nvPr/>
        </p:nvSpPr>
        <p:spPr>
          <a:xfrm>
            <a:off x="509993" y="522641"/>
            <a:ext cx="1311999" cy="26161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1100" dirty="0"/>
              <a:t>Our Build Stack</a:t>
            </a:r>
          </a:p>
        </p:txBody>
      </p:sp>
      <p:sp>
        <p:nvSpPr>
          <p:cNvPr id="22" name="TextBox 21">
            <a:extLst>
              <a:ext uri="{FF2B5EF4-FFF2-40B4-BE49-F238E27FC236}">
                <a16:creationId xmlns:a16="http://schemas.microsoft.com/office/drawing/2014/main" id="{7B80817F-C1E5-3D43-5182-68C64C0CCCA7}"/>
              </a:ext>
            </a:extLst>
          </p:cNvPr>
          <p:cNvSpPr txBox="1"/>
          <p:nvPr/>
        </p:nvSpPr>
        <p:spPr>
          <a:xfrm>
            <a:off x="2609850" y="525816"/>
            <a:ext cx="1447800" cy="24622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IN" sz="1000" dirty="0"/>
              <a:t>Our 5-Step Workflow</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1264285" cy="244475"/>
          </a:xfrm>
          <a:prstGeom prst="rect">
            <a:avLst/>
          </a:prstGeom>
        </p:spPr>
        <p:txBody>
          <a:bodyPr vert="horz" wrap="square" lIns="0" tIns="17145" rIns="0" bIns="0" rtlCol="0">
            <a:spAutoFit/>
          </a:bodyPr>
          <a:lstStyle/>
          <a:p>
            <a:pPr marL="12700">
              <a:lnSpc>
                <a:spcPct val="100000"/>
              </a:lnSpc>
              <a:spcBef>
                <a:spcPts val="135"/>
              </a:spcBef>
            </a:pPr>
            <a:r>
              <a:rPr sz="1400" spc="-50" dirty="0">
                <a:solidFill>
                  <a:srgbClr val="FFFFFF"/>
                </a:solidFill>
                <a:latin typeface="Tahoma"/>
                <a:cs typeface="Tahoma"/>
              </a:rPr>
              <a:t>Uses</a:t>
            </a:r>
            <a:r>
              <a:rPr sz="1400" spc="-45" dirty="0">
                <a:solidFill>
                  <a:srgbClr val="FFFFFF"/>
                </a:solidFill>
                <a:latin typeface="Tahoma"/>
                <a:cs typeface="Tahoma"/>
              </a:rPr>
              <a:t> </a:t>
            </a:r>
            <a:r>
              <a:rPr sz="1400" dirty="0">
                <a:solidFill>
                  <a:srgbClr val="FFFFFF"/>
                </a:solidFill>
                <a:latin typeface="Tahoma"/>
                <a:cs typeface="Tahoma"/>
              </a:rPr>
              <a:t>of</a:t>
            </a:r>
            <a:r>
              <a:rPr sz="1400" spc="-45" dirty="0">
                <a:solidFill>
                  <a:srgbClr val="FFFFFF"/>
                </a:solidFill>
                <a:latin typeface="Tahoma"/>
                <a:cs typeface="Tahoma"/>
              </a:rPr>
              <a:t> </a:t>
            </a:r>
            <a:r>
              <a:rPr sz="1400" spc="-50" dirty="0">
                <a:solidFill>
                  <a:srgbClr val="FFFFFF"/>
                </a:solidFill>
                <a:latin typeface="Tahoma"/>
                <a:cs typeface="Tahoma"/>
              </a:rPr>
              <a:t>Software</a:t>
            </a:r>
            <a:endParaRPr sz="1400" dirty="0">
              <a:latin typeface="Tahoma"/>
              <a:cs typeface="Tahoma"/>
            </a:endParaRPr>
          </a:p>
        </p:txBody>
      </p:sp>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0" name="object 10"/>
          <p:cNvSpPr txBox="1"/>
          <p:nvPr/>
        </p:nvSpPr>
        <p:spPr>
          <a:xfrm>
            <a:off x="1821992" y="3351784"/>
            <a:ext cx="963930" cy="179536"/>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p>
          <a:p>
            <a:pPr marL="12700">
              <a:lnSpc>
                <a:spcPts val="675"/>
              </a:lnSpc>
            </a:pPr>
            <a:endParaRPr sz="600" dirty="0">
              <a:latin typeface="Tahoma"/>
              <a:cs typeface="Tahoma"/>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2" name="object 12"/>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14</a:t>
            </a:fld>
            <a:r>
              <a:rPr spc="-85" dirty="0"/>
              <a:t> </a:t>
            </a:r>
            <a:r>
              <a:rPr spc="90" dirty="0"/>
              <a:t>/</a:t>
            </a:r>
            <a:r>
              <a:rPr spc="-85" dirty="0"/>
              <a:t> </a:t>
            </a:r>
            <a:r>
              <a:rPr spc="-35" dirty="0"/>
              <a:t>1</a:t>
            </a:r>
            <a:r>
              <a:rPr lang="en-US" spc="-35" dirty="0"/>
              <a:t>9</a:t>
            </a:r>
            <a:endParaRPr spc="-35" dirty="0"/>
          </a:p>
        </p:txBody>
      </p:sp>
      <p:graphicFrame>
        <p:nvGraphicFramePr>
          <p:cNvPr id="4" name="Table 3">
            <a:extLst>
              <a:ext uri="{FF2B5EF4-FFF2-40B4-BE49-F238E27FC236}">
                <a16:creationId xmlns:a16="http://schemas.microsoft.com/office/drawing/2014/main" id="{04180E84-60B2-2A9F-F6B2-572D51BC98E1}"/>
              </a:ext>
            </a:extLst>
          </p:cNvPr>
          <p:cNvGraphicFramePr>
            <a:graphicFrameLocks noGrp="1"/>
          </p:cNvGraphicFramePr>
          <p:nvPr>
            <p:extLst>
              <p:ext uri="{D42A27DB-BD31-4B8C-83A1-F6EECF244321}">
                <p14:modId xmlns:p14="http://schemas.microsoft.com/office/powerpoint/2010/main" val="2069213348"/>
              </p:ext>
            </p:extLst>
          </p:nvPr>
        </p:nvGraphicFramePr>
        <p:xfrm>
          <a:off x="476249" y="587375"/>
          <a:ext cx="3823076" cy="2438399"/>
        </p:xfrm>
        <a:graphic>
          <a:graphicData uri="http://schemas.openxmlformats.org/drawingml/2006/table">
            <a:tbl>
              <a:tblPr>
                <a:tableStyleId>{0505E3EF-67EA-436B-97B2-0124C06EBD24}</a:tableStyleId>
              </a:tblPr>
              <a:tblGrid>
                <a:gridCol w="1911538">
                  <a:extLst>
                    <a:ext uri="{9D8B030D-6E8A-4147-A177-3AD203B41FA5}">
                      <a16:colId xmlns:a16="http://schemas.microsoft.com/office/drawing/2014/main" val="210147886"/>
                    </a:ext>
                  </a:extLst>
                </a:gridCol>
                <a:gridCol w="1911538">
                  <a:extLst>
                    <a:ext uri="{9D8B030D-6E8A-4147-A177-3AD203B41FA5}">
                      <a16:colId xmlns:a16="http://schemas.microsoft.com/office/drawing/2014/main" val="2962682392"/>
                    </a:ext>
                  </a:extLst>
                </a:gridCol>
              </a:tblGrid>
              <a:tr h="310059">
                <a:tc>
                  <a:txBody>
                    <a:bodyPr/>
                    <a:lstStyle/>
                    <a:p>
                      <a:pPr algn="ctr"/>
                      <a:r>
                        <a:rPr lang="en-IN" sz="900" b="1"/>
                        <a:t>🛠️ Tool</a:t>
                      </a:r>
                    </a:p>
                  </a:txBody>
                  <a:tcPr marL="19142" marR="19142" marT="9571" marB="9571" anchor="ctr"/>
                </a:tc>
                <a:tc>
                  <a:txBody>
                    <a:bodyPr/>
                    <a:lstStyle/>
                    <a:p>
                      <a:pPr algn="ctr"/>
                      <a:r>
                        <a:rPr lang="en-US" sz="900" b="1" dirty="0"/>
                        <a:t>What We Use It For</a:t>
                      </a:r>
                    </a:p>
                  </a:txBody>
                  <a:tcPr marL="19142" marR="19142" marT="9571" marB="9571" anchor="ctr"/>
                </a:tc>
                <a:extLst>
                  <a:ext uri="{0D108BD9-81ED-4DB2-BD59-A6C34878D82A}">
                    <a16:rowId xmlns:a16="http://schemas.microsoft.com/office/drawing/2014/main" val="2473912128"/>
                  </a:ext>
                </a:extLst>
              </a:tr>
              <a:tr h="310059">
                <a:tc>
                  <a:txBody>
                    <a:bodyPr/>
                    <a:lstStyle/>
                    <a:p>
                      <a:pPr algn="ctr"/>
                      <a:r>
                        <a:rPr lang="en-IN" sz="900" b="1"/>
                        <a:t>VS Code + GitHub</a:t>
                      </a:r>
                      <a:endParaRPr lang="en-IN" sz="900"/>
                    </a:p>
                  </a:txBody>
                  <a:tcPr marL="19142" marR="19142" marT="9571" marB="9571" anchor="ctr"/>
                </a:tc>
                <a:tc>
                  <a:txBody>
                    <a:bodyPr/>
                    <a:lstStyle/>
                    <a:p>
                      <a:pPr algn="ctr"/>
                      <a:r>
                        <a:rPr lang="en-US" sz="900"/>
                        <a:t>Coding + version control (all repos)</a:t>
                      </a:r>
                    </a:p>
                  </a:txBody>
                  <a:tcPr marL="19142" marR="19142" marT="9571" marB="9571" anchor="ctr"/>
                </a:tc>
                <a:extLst>
                  <a:ext uri="{0D108BD9-81ED-4DB2-BD59-A6C34878D82A}">
                    <a16:rowId xmlns:a16="http://schemas.microsoft.com/office/drawing/2014/main" val="282147082"/>
                  </a:ext>
                </a:extLst>
              </a:tr>
              <a:tr h="444052">
                <a:tc>
                  <a:txBody>
                    <a:bodyPr/>
                    <a:lstStyle/>
                    <a:p>
                      <a:pPr algn="ctr"/>
                      <a:r>
                        <a:rPr lang="en-IN" sz="900" b="1"/>
                        <a:t>Hardhat + Sepolia faucet</a:t>
                      </a:r>
                      <a:endParaRPr lang="en-IN" sz="900"/>
                    </a:p>
                  </a:txBody>
                  <a:tcPr marL="19142" marR="19142" marT="9571" marB="9571" anchor="ctr"/>
                </a:tc>
                <a:tc>
                  <a:txBody>
                    <a:bodyPr/>
                    <a:lstStyle/>
                    <a:p>
                      <a:pPr algn="ctr"/>
                      <a:r>
                        <a:rPr lang="en-US" sz="900"/>
                        <a:t>Compile / deploy / test Solidity contracts</a:t>
                      </a:r>
                    </a:p>
                  </a:txBody>
                  <a:tcPr marL="19142" marR="19142" marT="9571" marB="9571" anchor="ctr"/>
                </a:tc>
                <a:extLst>
                  <a:ext uri="{0D108BD9-81ED-4DB2-BD59-A6C34878D82A}">
                    <a16:rowId xmlns:a16="http://schemas.microsoft.com/office/drawing/2014/main" val="1471412849"/>
                  </a:ext>
                </a:extLst>
              </a:tr>
              <a:tr h="310059">
                <a:tc>
                  <a:txBody>
                    <a:bodyPr/>
                    <a:lstStyle/>
                    <a:p>
                      <a:pPr algn="ctr"/>
                      <a:r>
                        <a:rPr lang="en-IN" sz="900" b="1"/>
                        <a:t>Node.js 18 + Express</a:t>
                      </a:r>
                      <a:endParaRPr lang="en-IN" sz="900"/>
                    </a:p>
                  </a:txBody>
                  <a:tcPr marL="19142" marR="19142" marT="9571" marB="9571" anchor="ctr"/>
                </a:tc>
                <a:tc>
                  <a:txBody>
                    <a:bodyPr/>
                    <a:lstStyle/>
                    <a:p>
                      <a:pPr algn="ctr"/>
                      <a:r>
                        <a:rPr lang="en-IN" sz="900"/>
                        <a:t>Mock KYC + OTP REST API</a:t>
                      </a:r>
                    </a:p>
                  </a:txBody>
                  <a:tcPr marL="19142" marR="19142" marT="9571" marB="9571" anchor="ctr"/>
                </a:tc>
                <a:extLst>
                  <a:ext uri="{0D108BD9-81ED-4DB2-BD59-A6C34878D82A}">
                    <a16:rowId xmlns:a16="http://schemas.microsoft.com/office/drawing/2014/main" val="2860271628"/>
                  </a:ext>
                </a:extLst>
              </a:tr>
              <a:tr h="444052">
                <a:tc>
                  <a:txBody>
                    <a:bodyPr/>
                    <a:lstStyle/>
                    <a:p>
                      <a:pPr algn="ctr"/>
                      <a:r>
                        <a:rPr lang="en-IN" sz="900" b="1"/>
                        <a:t>React 18 (Vite)</a:t>
                      </a:r>
                      <a:endParaRPr lang="en-IN" sz="900"/>
                    </a:p>
                  </a:txBody>
                  <a:tcPr marL="19142" marR="19142" marT="9571" marB="9571" anchor="ctr"/>
                </a:tc>
                <a:tc>
                  <a:txBody>
                    <a:bodyPr/>
                    <a:lstStyle/>
                    <a:p>
                      <a:pPr algn="ctr"/>
                      <a:r>
                        <a:rPr lang="en-IN" sz="900"/>
                        <a:t>Web SPA — admin dash &amp; voter portal</a:t>
                      </a:r>
                    </a:p>
                  </a:txBody>
                  <a:tcPr marL="19142" marR="19142" marT="9571" marB="9571" anchor="ctr"/>
                </a:tc>
                <a:extLst>
                  <a:ext uri="{0D108BD9-81ED-4DB2-BD59-A6C34878D82A}">
                    <a16:rowId xmlns:a16="http://schemas.microsoft.com/office/drawing/2014/main" val="4103195955"/>
                  </a:ext>
                </a:extLst>
              </a:tr>
              <a:tr h="310059">
                <a:tc>
                  <a:txBody>
                    <a:bodyPr/>
                    <a:lstStyle/>
                    <a:p>
                      <a:pPr algn="ctr"/>
                      <a:r>
                        <a:rPr lang="en-IN" sz="900" b="1"/>
                        <a:t>React Native + Expo</a:t>
                      </a:r>
                      <a:endParaRPr lang="en-IN" sz="900"/>
                    </a:p>
                  </a:txBody>
                  <a:tcPr marL="19142" marR="19142" marT="9571" marB="9571" anchor="ctr"/>
                </a:tc>
                <a:tc>
                  <a:txBody>
                    <a:bodyPr/>
                    <a:lstStyle/>
                    <a:p>
                      <a:pPr algn="ctr"/>
                      <a:r>
                        <a:rPr lang="en-US" sz="900"/>
                        <a:t>Mobile voter flow on Android / iOS</a:t>
                      </a:r>
                    </a:p>
                  </a:txBody>
                  <a:tcPr marL="19142" marR="19142" marT="9571" marB="9571" anchor="ctr"/>
                </a:tc>
                <a:extLst>
                  <a:ext uri="{0D108BD9-81ED-4DB2-BD59-A6C34878D82A}">
                    <a16:rowId xmlns:a16="http://schemas.microsoft.com/office/drawing/2014/main" val="786611924"/>
                  </a:ext>
                </a:extLst>
              </a:tr>
              <a:tr h="310059">
                <a:tc>
                  <a:txBody>
                    <a:bodyPr/>
                    <a:lstStyle/>
                    <a:p>
                      <a:pPr algn="ctr"/>
                      <a:r>
                        <a:rPr lang="en-IN" sz="900" b="1" dirty="0"/>
                        <a:t>MetaMask / </a:t>
                      </a:r>
                      <a:r>
                        <a:rPr lang="en-IN" sz="900" b="1" dirty="0" err="1"/>
                        <a:t>WalletConnect</a:t>
                      </a:r>
                      <a:endParaRPr lang="en-IN" sz="900" dirty="0"/>
                    </a:p>
                  </a:txBody>
                  <a:tcPr marL="19142" marR="19142" marT="9571" marB="9571" anchor="ctr"/>
                </a:tc>
                <a:tc>
                  <a:txBody>
                    <a:bodyPr/>
                    <a:lstStyle/>
                    <a:p>
                      <a:pPr algn="ctr"/>
                      <a:r>
                        <a:rPr lang="en-IN" sz="900" dirty="0"/>
                        <a:t>Sign commit / reveal </a:t>
                      </a:r>
                      <a:r>
                        <a:rPr lang="en-IN" sz="900" dirty="0" err="1"/>
                        <a:t>txns</a:t>
                      </a:r>
                      <a:endParaRPr lang="en-IN" sz="900" dirty="0"/>
                    </a:p>
                  </a:txBody>
                  <a:tcPr marL="19142" marR="19142" marT="9571" marB="9571" anchor="ctr"/>
                </a:tc>
                <a:extLst>
                  <a:ext uri="{0D108BD9-81ED-4DB2-BD59-A6C34878D82A}">
                    <a16:rowId xmlns:a16="http://schemas.microsoft.com/office/drawing/2014/main" val="3324413620"/>
                  </a:ext>
                </a:extLst>
              </a:tr>
            </a:tbl>
          </a:graphicData>
        </a:graphic>
      </p:graphicFrame>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1528445" cy="244475"/>
          </a:xfrm>
          <a:prstGeom prst="rect">
            <a:avLst/>
          </a:prstGeom>
        </p:spPr>
        <p:txBody>
          <a:bodyPr vert="horz" wrap="square" lIns="0" tIns="17145" rIns="0" bIns="0" rtlCol="0">
            <a:spAutoFit/>
          </a:bodyPr>
          <a:lstStyle/>
          <a:p>
            <a:pPr marL="12700">
              <a:lnSpc>
                <a:spcPct val="100000"/>
              </a:lnSpc>
              <a:spcBef>
                <a:spcPts val="135"/>
              </a:spcBef>
            </a:pPr>
            <a:r>
              <a:rPr sz="1400" spc="-35" dirty="0">
                <a:solidFill>
                  <a:srgbClr val="FFFFFF"/>
                </a:solidFill>
                <a:latin typeface="Tahoma"/>
                <a:cs typeface="Tahoma"/>
              </a:rPr>
              <a:t>System</a:t>
            </a:r>
            <a:r>
              <a:rPr sz="1400" spc="-75" dirty="0">
                <a:solidFill>
                  <a:srgbClr val="FFFFFF"/>
                </a:solidFill>
                <a:latin typeface="Tahoma"/>
                <a:cs typeface="Tahoma"/>
              </a:rPr>
              <a:t> </a:t>
            </a:r>
            <a:r>
              <a:rPr sz="1400" spc="-20" dirty="0">
                <a:solidFill>
                  <a:srgbClr val="FFFFFF"/>
                </a:solidFill>
                <a:latin typeface="Tahoma"/>
                <a:cs typeface="Tahoma"/>
              </a:rPr>
              <a:t>Architecture</a:t>
            </a:r>
            <a:endParaRPr sz="1400">
              <a:latin typeface="Tahoma"/>
              <a:cs typeface="Tahoma"/>
            </a:endParaRPr>
          </a:p>
        </p:txBody>
      </p:sp>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8" name="object 8"/>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0" name="object 10"/>
          <p:cNvSpPr txBox="1">
            <a:spLocks noGrp="1"/>
          </p:cNvSpPr>
          <p:nvPr>
            <p:ph type="sldNum" sz="quarter" idx="7"/>
          </p:nvPr>
        </p:nvSpPr>
        <p:spPr>
          <a:xfrm>
            <a:off x="4299325" y="3351784"/>
            <a:ext cx="254000" cy="179536"/>
          </a:xfrm>
          <a:prstGeom prst="rect">
            <a:avLst/>
          </a:prstGeom>
        </p:spPr>
        <p:txBody>
          <a:bodyPr vert="horz" wrap="square" lIns="0" tIns="0" rIns="0" bIns="0" rtlCol="0">
            <a:spAutoFit/>
          </a:bodyPr>
          <a:lstStyle/>
          <a:p>
            <a:pPr marL="12700">
              <a:lnSpc>
                <a:spcPts val="675"/>
              </a:lnSpc>
            </a:pPr>
            <a:fld id="{81D60167-4931-47E6-BA6A-407CBD079E47}" type="slidenum">
              <a:rPr spc="-10" dirty="0"/>
              <a:t>15</a:t>
            </a:fld>
            <a:r>
              <a:rPr spc="-85" dirty="0"/>
              <a:t> </a:t>
            </a:r>
            <a:r>
              <a:rPr spc="90" dirty="0"/>
              <a:t>/</a:t>
            </a:r>
            <a:r>
              <a:rPr spc="-85" dirty="0"/>
              <a:t> </a:t>
            </a:r>
            <a:r>
              <a:rPr spc="-35" dirty="0"/>
              <a:t>1</a:t>
            </a:r>
            <a:r>
              <a:rPr lang="en-US" spc="-35" dirty="0"/>
              <a:t>9</a:t>
            </a:r>
          </a:p>
          <a:p>
            <a:pPr marL="12700">
              <a:lnSpc>
                <a:spcPts val="675"/>
              </a:lnSpc>
            </a:pPr>
            <a:endParaRPr spc="-35" dirty="0"/>
          </a:p>
        </p:txBody>
      </p:sp>
      <p:pic>
        <p:nvPicPr>
          <p:cNvPr id="11" name="Picture 10" descr="PlantUML Diagram">
            <a:extLst>
              <a:ext uri="{FF2B5EF4-FFF2-40B4-BE49-F238E27FC236}">
                <a16:creationId xmlns:a16="http://schemas.microsoft.com/office/drawing/2014/main" id="{246B4383-7D0B-1A42-AD7C-9AA962E59F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212" y="520889"/>
            <a:ext cx="4305675" cy="26177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56007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Tahoma"/>
                <a:cs typeface="Tahoma"/>
              </a:rPr>
              <a:t>Budget</a:t>
            </a:r>
            <a:endParaRPr sz="1400">
              <a:latin typeface="Tahoma"/>
              <a:cs typeface="Tahoma"/>
            </a:endParaRPr>
          </a:p>
        </p:txBody>
      </p:sp>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0" name="object 10"/>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2" name="object 12"/>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16</a:t>
            </a:fld>
            <a:r>
              <a:rPr spc="-85" dirty="0"/>
              <a:t> </a:t>
            </a:r>
            <a:r>
              <a:rPr spc="90" dirty="0"/>
              <a:t>/</a:t>
            </a:r>
            <a:r>
              <a:rPr spc="-85" dirty="0"/>
              <a:t> </a:t>
            </a:r>
            <a:r>
              <a:rPr spc="-35" dirty="0"/>
              <a:t>1</a:t>
            </a:r>
            <a:r>
              <a:rPr lang="en-US" spc="-35" dirty="0"/>
              <a:t>9</a:t>
            </a:r>
            <a:endParaRPr spc="-35" dirty="0"/>
          </a:p>
        </p:txBody>
      </p:sp>
      <p:sp>
        <p:nvSpPr>
          <p:cNvPr id="14" name="TextBox 13">
            <a:extLst>
              <a:ext uri="{FF2B5EF4-FFF2-40B4-BE49-F238E27FC236}">
                <a16:creationId xmlns:a16="http://schemas.microsoft.com/office/drawing/2014/main" id="{4195CB68-6C5E-3A5B-7DEC-E357EC6CDFDC}"/>
              </a:ext>
            </a:extLst>
          </p:cNvPr>
          <p:cNvSpPr txBox="1"/>
          <p:nvPr/>
        </p:nvSpPr>
        <p:spPr>
          <a:xfrm>
            <a:off x="1469225" y="388352"/>
            <a:ext cx="1986102"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buNone/>
            </a:pPr>
            <a:r>
              <a:rPr lang="en-US" sz="900" b="1" dirty="0"/>
              <a:t>Budget Snapshot</a:t>
            </a:r>
          </a:p>
          <a:p>
            <a:pPr>
              <a:buNone/>
            </a:pPr>
            <a:r>
              <a:rPr lang="en-US" sz="900" dirty="0"/>
              <a:t>💸 </a:t>
            </a:r>
            <a:r>
              <a:rPr lang="en-US" sz="900" b="1" dirty="0"/>
              <a:t>Total Development Cost: ₹0</a:t>
            </a:r>
            <a:endParaRPr lang="en-US" sz="900" dirty="0"/>
          </a:p>
        </p:txBody>
      </p:sp>
      <p:sp>
        <p:nvSpPr>
          <p:cNvPr id="16" name="TextBox 15">
            <a:extLst>
              <a:ext uri="{FF2B5EF4-FFF2-40B4-BE49-F238E27FC236}">
                <a16:creationId xmlns:a16="http://schemas.microsoft.com/office/drawing/2014/main" id="{F14FD62E-966F-0DEC-82C5-DB735AA7FD7B}"/>
              </a:ext>
            </a:extLst>
          </p:cNvPr>
          <p:cNvSpPr txBox="1"/>
          <p:nvPr/>
        </p:nvSpPr>
        <p:spPr>
          <a:xfrm>
            <a:off x="565575" y="845856"/>
            <a:ext cx="3733750" cy="2308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900" dirty="0"/>
              <a:t>Our prototype is built entirely using </a:t>
            </a:r>
            <a:r>
              <a:rPr lang="en-US" sz="900" b="1" dirty="0"/>
              <a:t>free, student-accessible tools</a:t>
            </a:r>
            <a:r>
              <a:rPr lang="en-US" sz="900" dirty="0"/>
              <a:t>:</a:t>
            </a:r>
          </a:p>
        </p:txBody>
      </p:sp>
      <p:graphicFrame>
        <p:nvGraphicFramePr>
          <p:cNvPr id="17" name="Table 16">
            <a:extLst>
              <a:ext uri="{FF2B5EF4-FFF2-40B4-BE49-F238E27FC236}">
                <a16:creationId xmlns:a16="http://schemas.microsoft.com/office/drawing/2014/main" id="{74E46F7C-4FED-11B4-0ACA-FCFC5251C0E3}"/>
              </a:ext>
            </a:extLst>
          </p:cNvPr>
          <p:cNvGraphicFramePr>
            <a:graphicFrameLocks noGrp="1"/>
          </p:cNvGraphicFramePr>
          <p:nvPr>
            <p:extLst>
              <p:ext uri="{D42A27DB-BD31-4B8C-83A1-F6EECF244321}">
                <p14:modId xmlns:p14="http://schemas.microsoft.com/office/powerpoint/2010/main" val="3672493913"/>
              </p:ext>
            </p:extLst>
          </p:nvPr>
        </p:nvGraphicFramePr>
        <p:xfrm>
          <a:off x="1014476" y="1164860"/>
          <a:ext cx="2895600" cy="1693824"/>
        </p:xfrm>
        <a:graphic>
          <a:graphicData uri="http://schemas.openxmlformats.org/drawingml/2006/table">
            <a:tbl>
              <a:tblPr>
                <a:tableStyleId>{0505E3EF-67EA-436B-97B2-0124C06EBD24}</a:tableStyleId>
              </a:tblPr>
              <a:tblGrid>
                <a:gridCol w="965200">
                  <a:extLst>
                    <a:ext uri="{9D8B030D-6E8A-4147-A177-3AD203B41FA5}">
                      <a16:colId xmlns:a16="http://schemas.microsoft.com/office/drawing/2014/main" val="524397570"/>
                    </a:ext>
                  </a:extLst>
                </a:gridCol>
                <a:gridCol w="965200">
                  <a:extLst>
                    <a:ext uri="{9D8B030D-6E8A-4147-A177-3AD203B41FA5}">
                      <a16:colId xmlns:a16="http://schemas.microsoft.com/office/drawing/2014/main" val="1168682529"/>
                    </a:ext>
                  </a:extLst>
                </a:gridCol>
                <a:gridCol w="965200">
                  <a:extLst>
                    <a:ext uri="{9D8B030D-6E8A-4147-A177-3AD203B41FA5}">
                      <a16:colId xmlns:a16="http://schemas.microsoft.com/office/drawing/2014/main" val="1191887624"/>
                    </a:ext>
                  </a:extLst>
                </a:gridCol>
              </a:tblGrid>
              <a:tr h="51755">
                <a:tc>
                  <a:txBody>
                    <a:bodyPr/>
                    <a:lstStyle/>
                    <a:p>
                      <a:pPr algn="ctr"/>
                      <a:r>
                        <a:rPr lang="en-IN" sz="800"/>
                        <a:t>Resource</a:t>
                      </a:r>
                    </a:p>
                  </a:txBody>
                  <a:tcPr marL="15553" marR="15553" marT="7776" marB="7776" anchor="ctr"/>
                </a:tc>
                <a:tc>
                  <a:txBody>
                    <a:bodyPr/>
                    <a:lstStyle/>
                    <a:p>
                      <a:pPr algn="ctr"/>
                      <a:r>
                        <a:rPr lang="en-IN" sz="800"/>
                        <a:t>Tool/Service</a:t>
                      </a:r>
                    </a:p>
                  </a:txBody>
                  <a:tcPr marL="15553" marR="15553" marT="7776" marB="7776" anchor="ctr"/>
                </a:tc>
                <a:tc>
                  <a:txBody>
                    <a:bodyPr/>
                    <a:lstStyle/>
                    <a:p>
                      <a:pPr algn="ctr"/>
                      <a:r>
                        <a:rPr lang="en-IN" sz="800"/>
                        <a:t>Cost</a:t>
                      </a:r>
                    </a:p>
                  </a:txBody>
                  <a:tcPr marL="15553" marR="15553" marT="7776" marB="7776" anchor="ctr"/>
                </a:tc>
                <a:extLst>
                  <a:ext uri="{0D108BD9-81ED-4DB2-BD59-A6C34878D82A}">
                    <a16:rowId xmlns:a16="http://schemas.microsoft.com/office/drawing/2014/main" val="3382881402"/>
                  </a:ext>
                </a:extLst>
              </a:tr>
              <a:tr h="143556">
                <a:tc>
                  <a:txBody>
                    <a:bodyPr/>
                    <a:lstStyle/>
                    <a:p>
                      <a:pPr algn="ctr"/>
                      <a:r>
                        <a:rPr lang="en-IN" sz="800"/>
                        <a:t>Smart Contract Dev</a:t>
                      </a:r>
                    </a:p>
                  </a:txBody>
                  <a:tcPr marL="15553" marR="15553" marT="7776" marB="7776" anchor="ctr"/>
                </a:tc>
                <a:tc>
                  <a:txBody>
                    <a:bodyPr/>
                    <a:lstStyle/>
                    <a:p>
                      <a:pPr algn="ctr"/>
                      <a:r>
                        <a:rPr lang="en-IN" sz="800"/>
                        <a:t>Hardhat, Sepolia Testnet</a:t>
                      </a:r>
                    </a:p>
                  </a:txBody>
                  <a:tcPr marL="15553" marR="15553" marT="7776" marB="7776" anchor="ctr"/>
                </a:tc>
                <a:tc>
                  <a:txBody>
                    <a:bodyPr/>
                    <a:lstStyle/>
                    <a:p>
                      <a:pPr algn="ctr"/>
                      <a:r>
                        <a:rPr lang="en-IN" sz="800"/>
                        <a:t>₹0 (free test ETH)</a:t>
                      </a:r>
                    </a:p>
                  </a:txBody>
                  <a:tcPr marL="15553" marR="15553" marT="7776" marB="7776" anchor="ctr"/>
                </a:tc>
                <a:extLst>
                  <a:ext uri="{0D108BD9-81ED-4DB2-BD59-A6C34878D82A}">
                    <a16:rowId xmlns:a16="http://schemas.microsoft.com/office/drawing/2014/main" val="3795328263"/>
                  </a:ext>
                </a:extLst>
              </a:tr>
              <a:tr h="143556">
                <a:tc>
                  <a:txBody>
                    <a:bodyPr/>
                    <a:lstStyle/>
                    <a:p>
                      <a:pPr algn="ctr"/>
                      <a:r>
                        <a:rPr lang="en-IN" sz="800"/>
                        <a:t>Web &amp; Mobile UI</a:t>
                      </a:r>
                    </a:p>
                  </a:txBody>
                  <a:tcPr marL="15553" marR="15553" marT="7776" marB="7776" anchor="ctr"/>
                </a:tc>
                <a:tc>
                  <a:txBody>
                    <a:bodyPr/>
                    <a:lstStyle/>
                    <a:p>
                      <a:pPr algn="ctr"/>
                      <a:r>
                        <a:rPr lang="en-US" sz="800"/>
                        <a:t>React, React Native, Expo Go</a:t>
                      </a:r>
                    </a:p>
                  </a:txBody>
                  <a:tcPr marL="15553" marR="15553" marT="7776" marB="7776" anchor="ctr"/>
                </a:tc>
                <a:tc>
                  <a:txBody>
                    <a:bodyPr/>
                    <a:lstStyle/>
                    <a:p>
                      <a:pPr algn="ctr"/>
                      <a:r>
                        <a:rPr lang="en-IN" sz="800"/>
                        <a:t>₹0</a:t>
                      </a:r>
                    </a:p>
                  </a:txBody>
                  <a:tcPr marL="15553" marR="15553" marT="7776" marB="7776" anchor="ctr"/>
                </a:tc>
                <a:extLst>
                  <a:ext uri="{0D108BD9-81ED-4DB2-BD59-A6C34878D82A}">
                    <a16:rowId xmlns:a16="http://schemas.microsoft.com/office/drawing/2014/main" val="350361195"/>
                  </a:ext>
                </a:extLst>
              </a:tr>
              <a:tr h="143556">
                <a:tc>
                  <a:txBody>
                    <a:bodyPr/>
                    <a:lstStyle/>
                    <a:p>
                      <a:pPr algn="ctr"/>
                      <a:r>
                        <a:rPr lang="en-IN" sz="800"/>
                        <a:t>Backend API</a:t>
                      </a:r>
                    </a:p>
                  </a:txBody>
                  <a:tcPr marL="15553" marR="15553" marT="7776" marB="7776" anchor="ctr"/>
                </a:tc>
                <a:tc>
                  <a:txBody>
                    <a:bodyPr/>
                    <a:lstStyle/>
                    <a:p>
                      <a:pPr algn="ctr"/>
                      <a:r>
                        <a:rPr lang="en-IN" sz="800"/>
                        <a:t>Node.js + Express (local)</a:t>
                      </a:r>
                    </a:p>
                  </a:txBody>
                  <a:tcPr marL="15553" marR="15553" marT="7776" marB="7776" anchor="ctr"/>
                </a:tc>
                <a:tc>
                  <a:txBody>
                    <a:bodyPr/>
                    <a:lstStyle/>
                    <a:p>
                      <a:pPr algn="ctr"/>
                      <a:r>
                        <a:rPr lang="en-IN" sz="800"/>
                        <a:t>₹0</a:t>
                      </a:r>
                    </a:p>
                  </a:txBody>
                  <a:tcPr marL="15553" marR="15553" marT="7776" marB="7776" anchor="ctr"/>
                </a:tc>
                <a:extLst>
                  <a:ext uri="{0D108BD9-81ED-4DB2-BD59-A6C34878D82A}">
                    <a16:rowId xmlns:a16="http://schemas.microsoft.com/office/drawing/2014/main" val="1328147559"/>
                  </a:ext>
                </a:extLst>
              </a:tr>
              <a:tr h="143556">
                <a:tc>
                  <a:txBody>
                    <a:bodyPr/>
                    <a:lstStyle/>
                    <a:p>
                      <a:pPr algn="ctr"/>
                      <a:r>
                        <a:rPr lang="en-IN" sz="800"/>
                        <a:t>Hosting (demo)</a:t>
                      </a:r>
                    </a:p>
                  </a:txBody>
                  <a:tcPr marL="15553" marR="15553" marT="7776" marB="7776" anchor="ctr"/>
                </a:tc>
                <a:tc>
                  <a:txBody>
                    <a:bodyPr/>
                    <a:lstStyle/>
                    <a:p>
                      <a:pPr algn="ctr"/>
                      <a:r>
                        <a:rPr lang="en-IN" sz="800"/>
                        <a:t>Netlify, Render (free tier)</a:t>
                      </a:r>
                    </a:p>
                  </a:txBody>
                  <a:tcPr marL="15553" marR="15553" marT="7776" marB="7776" anchor="ctr"/>
                </a:tc>
                <a:tc>
                  <a:txBody>
                    <a:bodyPr/>
                    <a:lstStyle/>
                    <a:p>
                      <a:pPr algn="ctr"/>
                      <a:r>
                        <a:rPr lang="en-IN" sz="800"/>
                        <a:t>₹0</a:t>
                      </a:r>
                    </a:p>
                  </a:txBody>
                  <a:tcPr marL="15553" marR="15553" marT="7776" marB="7776" anchor="ctr"/>
                </a:tc>
                <a:extLst>
                  <a:ext uri="{0D108BD9-81ED-4DB2-BD59-A6C34878D82A}">
                    <a16:rowId xmlns:a16="http://schemas.microsoft.com/office/drawing/2014/main" val="1399256825"/>
                  </a:ext>
                </a:extLst>
              </a:tr>
              <a:tr h="97656">
                <a:tc>
                  <a:txBody>
                    <a:bodyPr/>
                    <a:lstStyle/>
                    <a:p>
                      <a:pPr algn="ctr"/>
                      <a:r>
                        <a:rPr lang="en-IN" sz="800"/>
                        <a:t>Face Matching</a:t>
                      </a:r>
                    </a:p>
                  </a:txBody>
                  <a:tcPr marL="15553" marR="15553" marT="7776" marB="7776" anchor="ctr"/>
                </a:tc>
                <a:tc>
                  <a:txBody>
                    <a:bodyPr/>
                    <a:lstStyle/>
                    <a:p>
                      <a:pPr algn="ctr"/>
                      <a:r>
                        <a:rPr lang="en-IN" sz="800"/>
                        <a:t>TensorFlow.js (local, mock)</a:t>
                      </a:r>
                    </a:p>
                  </a:txBody>
                  <a:tcPr marL="15553" marR="15553" marT="7776" marB="7776" anchor="ctr"/>
                </a:tc>
                <a:tc>
                  <a:txBody>
                    <a:bodyPr/>
                    <a:lstStyle/>
                    <a:p>
                      <a:pPr algn="ctr"/>
                      <a:r>
                        <a:rPr lang="en-IN" sz="800"/>
                        <a:t>₹0</a:t>
                      </a:r>
                    </a:p>
                  </a:txBody>
                  <a:tcPr marL="15553" marR="15553" marT="7776" marB="7776" anchor="ctr"/>
                </a:tc>
                <a:extLst>
                  <a:ext uri="{0D108BD9-81ED-4DB2-BD59-A6C34878D82A}">
                    <a16:rowId xmlns:a16="http://schemas.microsoft.com/office/drawing/2014/main" val="2288081650"/>
                  </a:ext>
                </a:extLst>
              </a:tr>
              <a:tr h="143556">
                <a:tc>
                  <a:txBody>
                    <a:bodyPr/>
                    <a:lstStyle/>
                    <a:p>
                      <a:pPr algn="ctr"/>
                      <a:r>
                        <a:rPr lang="en-IN" sz="800" dirty="0"/>
                        <a:t>Documentation</a:t>
                      </a:r>
                    </a:p>
                  </a:txBody>
                  <a:tcPr marL="15553" marR="15553" marT="7776" marB="7776" anchor="ctr"/>
                </a:tc>
                <a:tc>
                  <a:txBody>
                    <a:bodyPr/>
                    <a:lstStyle/>
                    <a:p>
                      <a:pPr algn="ctr"/>
                      <a:r>
                        <a:rPr lang="en-IN" sz="800"/>
                        <a:t>Google Docs, Figma (edu plan)</a:t>
                      </a:r>
                    </a:p>
                  </a:txBody>
                  <a:tcPr marL="15553" marR="15553" marT="7776" marB="7776" anchor="ctr"/>
                </a:tc>
                <a:tc>
                  <a:txBody>
                    <a:bodyPr/>
                    <a:lstStyle/>
                    <a:p>
                      <a:pPr algn="ctr"/>
                      <a:r>
                        <a:rPr lang="en-IN" sz="800" dirty="0"/>
                        <a:t>₹0</a:t>
                      </a:r>
                    </a:p>
                  </a:txBody>
                  <a:tcPr marL="15553" marR="15553" marT="7776" marB="7776" anchor="ctr"/>
                </a:tc>
                <a:extLst>
                  <a:ext uri="{0D108BD9-81ED-4DB2-BD59-A6C34878D82A}">
                    <a16:rowId xmlns:a16="http://schemas.microsoft.com/office/drawing/2014/main" val="3119302338"/>
                  </a:ext>
                </a:extLst>
              </a:tr>
            </a:tbl>
          </a:graphicData>
        </a:graphic>
      </p:graphicFrame>
      <p:sp>
        <p:nvSpPr>
          <p:cNvPr id="19" name="TextBox 18">
            <a:extLst>
              <a:ext uri="{FF2B5EF4-FFF2-40B4-BE49-F238E27FC236}">
                <a16:creationId xmlns:a16="http://schemas.microsoft.com/office/drawing/2014/main" id="{112BDB1B-436D-0656-2FEF-B866C9976BCA}"/>
              </a:ext>
            </a:extLst>
          </p:cNvPr>
          <p:cNvSpPr txBox="1"/>
          <p:nvPr/>
        </p:nvSpPr>
        <p:spPr>
          <a:xfrm>
            <a:off x="655370" y="2933239"/>
            <a:ext cx="3733750" cy="33855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800" dirty="0"/>
              <a:t>🛠 </a:t>
            </a:r>
            <a:r>
              <a:rPr lang="en-US" sz="800" b="1" dirty="0"/>
              <a:t>Goal:</a:t>
            </a:r>
            <a:r>
              <a:rPr lang="en-US" sz="800" dirty="0"/>
              <a:t> Validate design feasibility </a:t>
            </a:r>
            <a:r>
              <a:rPr lang="en-US" sz="800" b="1" dirty="0"/>
              <a:t>without paid infrastructure</a:t>
            </a:r>
            <a:r>
              <a:rPr lang="en-US" sz="800" dirty="0"/>
              <a:t>.</a:t>
            </a:r>
            <a:br>
              <a:rPr lang="en-US" sz="800" dirty="0"/>
            </a:br>
            <a:r>
              <a:rPr lang="en-US" sz="800" dirty="0"/>
              <a:t>📌 For campus-scale pilot, only </a:t>
            </a:r>
            <a:r>
              <a:rPr lang="en-US" sz="800" b="1" dirty="0"/>
              <a:t>cloud credits or SMS API</a:t>
            </a:r>
            <a:r>
              <a:rPr lang="en-US" sz="800" dirty="0"/>
              <a:t> may need minimal funding.</a:t>
            </a:r>
            <a:endParaRPr lang="en-IN" sz="800" dirty="0"/>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3272790"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FFFFFF"/>
                </a:solidFill>
              </a:rPr>
              <a:t>How</a:t>
            </a:r>
            <a:r>
              <a:rPr sz="1400" spc="-65" dirty="0">
                <a:solidFill>
                  <a:srgbClr val="FFFFFF"/>
                </a:solidFill>
              </a:rPr>
              <a:t> </a:t>
            </a:r>
            <a:r>
              <a:rPr sz="1400" dirty="0">
                <a:solidFill>
                  <a:srgbClr val="FFFFFF"/>
                </a:solidFill>
              </a:rPr>
              <a:t>do</a:t>
            </a:r>
            <a:r>
              <a:rPr sz="1400" spc="-60" dirty="0">
                <a:solidFill>
                  <a:srgbClr val="FFFFFF"/>
                </a:solidFill>
              </a:rPr>
              <a:t> </a:t>
            </a:r>
            <a:r>
              <a:rPr sz="1400" spc="-45" dirty="0">
                <a:solidFill>
                  <a:srgbClr val="FFFFFF"/>
                </a:solidFill>
              </a:rPr>
              <a:t>you</a:t>
            </a:r>
            <a:r>
              <a:rPr sz="1400" spc="-60" dirty="0">
                <a:solidFill>
                  <a:srgbClr val="FFFFFF"/>
                </a:solidFill>
              </a:rPr>
              <a:t> </a:t>
            </a:r>
            <a:r>
              <a:rPr sz="1400" spc="-20" dirty="0">
                <a:solidFill>
                  <a:srgbClr val="FFFFFF"/>
                </a:solidFill>
              </a:rPr>
              <a:t>plan</a:t>
            </a:r>
            <a:r>
              <a:rPr sz="1400" spc="-60" dirty="0">
                <a:solidFill>
                  <a:srgbClr val="FFFFFF"/>
                </a:solidFill>
              </a:rPr>
              <a:t> </a:t>
            </a:r>
            <a:r>
              <a:rPr sz="1400" dirty="0">
                <a:solidFill>
                  <a:srgbClr val="FFFFFF"/>
                </a:solidFill>
              </a:rPr>
              <a:t>to</a:t>
            </a:r>
            <a:r>
              <a:rPr sz="1400" spc="-60" dirty="0">
                <a:solidFill>
                  <a:srgbClr val="FFFFFF"/>
                </a:solidFill>
              </a:rPr>
              <a:t> </a:t>
            </a:r>
            <a:r>
              <a:rPr sz="1400" spc="-45" dirty="0">
                <a:solidFill>
                  <a:srgbClr val="FFFFFF"/>
                </a:solidFill>
              </a:rPr>
              <a:t>implement</a:t>
            </a:r>
            <a:r>
              <a:rPr sz="1400" spc="-65" dirty="0">
                <a:solidFill>
                  <a:srgbClr val="FFFFFF"/>
                </a:solidFill>
              </a:rPr>
              <a:t> </a:t>
            </a:r>
            <a:r>
              <a:rPr sz="1400" dirty="0">
                <a:solidFill>
                  <a:srgbClr val="FFFFFF"/>
                </a:solidFill>
              </a:rPr>
              <a:t>the</a:t>
            </a:r>
            <a:r>
              <a:rPr sz="1400" spc="-60" dirty="0">
                <a:solidFill>
                  <a:srgbClr val="FFFFFF"/>
                </a:solidFill>
              </a:rPr>
              <a:t> </a:t>
            </a:r>
            <a:r>
              <a:rPr sz="1400" spc="-20" dirty="0">
                <a:solidFill>
                  <a:srgbClr val="FFFFFF"/>
                </a:solidFill>
              </a:rPr>
              <a:t>project?</a:t>
            </a:r>
            <a:endParaRPr sz="1400" dirty="0"/>
          </a:p>
        </p:txBody>
      </p:sp>
      <p:grpSp>
        <p:nvGrpSpPr>
          <p:cNvPr id="5" name="object 5"/>
          <p:cNvGrpSpPr/>
          <p:nvPr/>
        </p:nvGrpSpPr>
        <p:grpSpPr>
          <a:xfrm>
            <a:off x="0" y="3346348"/>
            <a:ext cx="4608195" cy="109855"/>
            <a:chOff x="0" y="3346348"/>
            <a:chExt cx="4608195" cy="109855"/>
          </a:xfrm>
        </p:grpSpPr>
        <p:sp>
          <p:nvSpPr>
            <p:cNvPr id="6" name="object 6"/>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9" name="object 9"/>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sz="600" dirty="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1" name="object 11"/>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17</a:t>
            </a:fld>
            <a:r>
              <a:rPr spc="-85" dirty="0"/>
              <a:t> </a:t>
            </a:r>
            <a:r>
              <a:rPr spc="90" dirty="0"/>
              <a:t>/</a:t>
            </a:r>
            <a:r>
              <a:rPr spc="-85" dirty="0"/>
              <a:t> </a:t>
            </a:r>
            <a:r>
              <a:rPr spc="-35" dirty="0"/>
              <a:t>1</a:t>
            </a:r>
            <a:r>
              <a:rPr lang="en-US" spc="-35" dirty="0"/>
              <a:t>9</a:t>
            </a:r>
            <a:endParaRPr spc="-35" dirty="0"/>
          </a:p>
        </p:txBody>
      </p:sp>
      <p:graphicFrame>
        <p:nvGraphicFramePr>
          <p:cNvPr id="3" name="Table 2">
            <a:extLst>
              <a:ext uri="{FF2B5EF4-FFF2-40B4-BE49-F238E27FC236}">
                <a16:creationId xmlns:a16="http://schemas.microsoft.com/office/drawing/2014/main" id="{4F7C704A-84F0-8390-2686-0F4C91BEF8CB}"/>
              </a:ext>
            </a:extLst>
          </p:cNvPr>
          <p:cNvGraphicFramePr>
            <a:graphicFrameLocks noGrp="1"/>
          </p:cNvGraphicFramePr>
          <p:nvPr>
            <p:extLst>
              <p:ext uri="{D42A27DB-BD31-4B8C-83A1-F6EECF244321}">
                <p14:modId xmlns:p14="http://schemas.microsoft.com/office/powerpoint/2010/main" val="2979790961"/>
              </p:ext>
            </p:extLst>
          </p:nvPr>
        </p:nvGraphicFramePr>
        <p:xfrm>
          <a:off x="247650" y="404986"/>
          <a:ext cx="4198335" cy="1477789"/>
        </p:xfrm>
        <a:graphic>
          <a:graphicData uri="http://schemas.openxmlformats.org/drawingml/2006/table">
            <a:tbl>
              <a:tblPr>
                <a:tableStyleId>{0505E3EF-67EA-436B-97B2-0124C06EBD24}</a:tableStyleId>
              </a:tblPr>
              <a:tblGrid>
                <a:gridCol w="1399445">
                  <a:extLst>
                    <a:ext uri="{9D8B030D-6E8A-4147-A177-3AD203B41FA5}">
                      <a16:colId xmlns:a16="http://schemas.microsoft.com/office/drawing/2014/main" val="4027342100"/>
                    </a:ext>
                  </a:extLst>
                </a:gridCol>
                <a:gridCol w="1399445">
                  <a:extLst>
                    <a:ext uri="{9D8B030D-6E8A-4147-A177-3AD203B41FA5}">
                      <a16:colId xmlns:a16="http://schemas.microsoft.com/office/drawing/2014/main" val="2067595850"/>
                    </a:ext>
                  </a:extLst>
                </a:gridCol>
                <a:gridCol w="1399445">
                  <a:extLst>
                    <a:ext uri="{9D8B030D-6E8A-4147-A177-3AD203B41FA5}">
                      <a16:colId xmlns:a16="http://schemas.microsoft.com/office/drawing/2014/main" val="899800972"/>
                    </a:ext>
                  </a:extLst>
                </a:gridCol>
              </a:tblGrid>
              <a:tr h="120051">
                <a:tc>
                  <a:txBody>
                    <a:bodyPr/>
                    <a:lstStyle/>
                    <a:p>
                      <a:pPr algn="ctr"/>
                      <a:r>
                        <a:rPr lang="en-IN" sz="700" b="1">
                          <a:effectLst/>
                        </a:rPr>
                        <a:t>Component</a:t>
                      </a:r>
                      <a:endParaRPr lang="en-IN" sz="700">
                        <a:effectLst/>
                      </a:endParaRPr>
                    </a:p>
                  </a:txBody>
                  <a:tcPr marL="7386" marR="7386" marT="3409" marB="3409" anchor="ctr"/>
                </a:tc>
                <a:tc>
                  <a:txBody>
                    <a:bodyPr/>
                    <a:lstStyle/>
                    <a:p>
                      <a:pPr algn="ctr"/>
                      <a:r>
                        <a:rPr lang="en-IN" sz="700" b="1">
                          <a:effectLst/>
                        </a:rPr>
                        <a:t>Technology</a:t>
                      </a:r>
                      <a:endParaRPr lang="en-IN" sz="700">
                        <a:effectLst/>
                      </a:endParaRPr>
                    </a:p>
                  </a:txBody>
                  <a:tcPr marL="7386" marR="7386" marT="3409" marB="3409" anchor="ctr"/>
                </a:tc>
                <a:tc>
                  <a:txBody>
                    <a:bodyPr/>
                    <a:lstStyle/>
                    <a:p>
                      <a:pPr algn="ctr"/>
                      <a:r>
                        <a:rPr lang="en-IN" sz="700" b="1">
                          <a:effectLst/>
                        </a:rPr>
                        <a:t>Key Features</a:t>
                      </a:r>
                      <a:endParaRPr lang="en-IN" sz="700">
                        <a:effectLst/>
                      </a:endParaRPr>
                    </a:p>
                  </a:txBody>
                  <a:tcPr marL="7386" marR="7386" marT="3409" marB="3409" anchor="ctr"/>
                </a:tc>
                <a:extLst>
                  <a:ext uri="{0D108BD9-81ED-4DB2-BD59-A6C34878D82A}">
                    <a16:rowId xmlns:a16="http://schemas.microsoft.com/office/drawing/2014/main" val="3605444332"/>
                  </a:ext>
                </a:extLst>
              </a:tr>
              <a:tr h="347437">
                <a:tc>
                  <a:txBody>
                    <a:bodyPr/>
                    <a:lstStyle/>
                    <a:p>
                      <a:pPr algn="ctr"/>
                      <a:r>
                        <a:rPr lang="en-IN" sz="700" b="1">
                          <a:effectLst/>
                        </a:rPr>
                        <a:t>Smart Contracts</a:t>
                      </a:r>
                      <a:endParaRPr lang="en-IN" sz="700">
                        <a:effectLst/>
                      </a:endParaRPr>
                    </a:p>
                  </a:txBody>
                  <a:tcPr marL="7386" marR="7386" marT="3409" marB="3409" anchor="ctr"/>
                </a:tc>
                <a:tc>
                  <a:txBody>
                    <a:bodyPr/>
                    <a:lstStyle/>
                    <a:p>
                      <a:pPr algn="ctr"/>
                      <a:r>
                        <a:rPr lang="en-IN" sz="700">
                          <a:effectLst/>
                        </a:rPr>
                        <a:t>Solidity + Hardhat</a:t>
                      </a:r>
                    </a:p>
                  </a:txBody>
                  <a:tcPr marL="7386" marR="7386" marT="3409" marB="3409" anchor="ctr"/>
                </a:tc>
                <a:tc>
                  <a:txBody>
                    <a:bodyPr/>
                    <a:lstStyle/>
                    <a:p>
                      <a:pPr algn="ctr"/>
                      <a:r>
                        <a:rPr lang="en-US" sz="700">
                          <a:effectLst/>
                        </a:rPr>
                        <a:t>Commit-reveal voting, Admin controls, Merkle tree verification</a:t>
                      </a:r>
                    </a:p>
                  </a:txBody>
                  <a:tcPr marL="7386" marR="7386" marT="3409" marB="3409" anchor="ctr"/>
                </a:tc>
                <a:extLst>
                  <a:ext uri="{0D108BD9-81ED-4DB2-BD59-A6C34878D82A}">
                    <a16:rowId xmlns:a16="http://schemas.microsoft.com/office/drawing/2014/main" val="1749963444"/>
                  </a:ext>
                </a:extLst>
              </a:tr>
              <a:tr h="347437">
                <a:tc>
                  <a:txBody>
                    <a:bodyPr/>
                    <a:lstStyle/>
                    <a:p>
                      <a:pPr algn="ctr"/>
                      <a:r>
                        <a:rPr lang="en-IN" sz="700" b="1">
                          <a:effectLst/>
                        </a:rPr>
                        <a:t>Backend API</a:t>
                      </a:r>
                      <a:endParaRPr lang="en-IN" sz="700">
                        <a:effectLst/>
                      </a:endParaRPr>
                    </a:p>
                  </a:txBody>
                  <a:tcPr marL="7386" marR="7386" marT="3409" marB="3409" anchor="ctr"/>
                </a:tc>
                <a:tc>
                  <a:txBody>
                    <a:bodyPr/>
                    <a:lstStyle/>
                    <a:p>
                      <a:pPr algn="ctr"/>
                      <a:r>
                        <a:rPr lang="en-IN" sz="700">
                          <a:effectLst/>
                        </a:rPr>
                        <a:t>Node.js + Express</a:t>
                      </a:r>
                    </a:p>
                  </a:txBody>
                  <a:tcPr marL="7386" marR="7386" marT="3409" marB="3409" anchor="ctr"/>
                </a:tc>
                <a:tc>
                  <a:txBody>
                    <a:bodyPr/>
                    <a:lstStyle/>
                    <a:p>
                      <a:pPr algn="ctr"/>
                      <a:r>
                        <a:rPr lang="en-US" sz="700">
                          <a:effectLst/>
                        </a:rPr>
                        <a:t>KYC verification, Voter eligibility, Merkle proof generation</a:t>
                      </a:r>
                    </a:p>
                  </a:txBody>
                  <a:tcPr marL="7386" marR="7386" marT="3409" marB="3409" anchor="ctr"/>
                </a:tc>
                <a:extLst>
                  <a:ext uri="{0D108BD9-81ED-4DB2-BD59-A6C34878D82A}">
                    <a16:rowId xmlns:a16="http://schemas.microsoft.com/office/drawing/2014/main" val="2759552431"/>
                  </a:ext>
                </a:extLst>
              </a:tr>
              <a:tr h="331432">
                <a:tc>
                  <a:txBody>
                    <a:bodyPr/>
                    <a:lstStyle/>
                    <a:p>
                      <a:pPr algn="ctr"/>
                      <a:r>
                        <a:rPr lang="en-IN" sz="700" b="1" dirty="0">
                          <a:effectLst/>
                        </a:rPr>
                        <a:t>Web Frontend</a:t>
                      </a:r>
                      <a:endParaRPr lang="en-IN" sz="700" dirty="0">
                        <a:effectLst/>
                      </a:endParaRPr>
                    </a:p>
                  </a:txBody>
                  <a:tcPr marL="7386" marR="7386" marT="3409" marB="3409" anchor="ctr"/>
                </a:tc>
                <a:tc>
                  <a:txBody>
                    <a:bodyPr/>
                    <a:lstStyle/>
                    <a:p>
                      <a:pPr algn="ctr"/>
                      <a:r>
                        <a:rPr lang="en-IN" sz="700">
                          <a:effectLst/>
                        </a:rPr>
                        <a:t>React TypeScript</a:t>
                      </a:r>
                    </a:p>
                  </a:txBody>
                  <a:tcPr marL="7386" marR="7386" marT="3409" marB="3409" anchor="ctr"/>
                </a:tc>
                <a:tc>
                  <a:txBody>
                    <a:bodyPr/>
                    <a:lstStyle/>
                    <a:p>
                      <a:pPr algn="ctr"/>
                      <a:r>
                        <a:rPr lang="en-US" sz="700">
                          <a:effectLst/>
                        </a:rPr>
                        <a:t>MetaMask integration, Responsive UI, Admin panel</a:t>
                      </a:r>
                    </a:p>
                  </a:txBody>
                  <a:tcPr marL="7386" marR="7386" marT="3409" marB="3409" anchor="ctr"/>
                </a:tc>
                <a:extLst>
                  <a:ext uri="{0D108BD9-81ED-4DB2-BD59-A6C34878D82A}">
                    <a16:rowId xmlns:a16="http://schemas.microsoft.com/office/drawing/2014/main" val="204165580"/>
                  </a:ext>
                </a:extLst>
              </a:tr>
              <a:tr h="331432">
                <a:tc>
                  <a:txBody>
                    <a:bodyPr/>
                    <a:lstStyle/>
                    <a:p>
                      <a:pPr algn="ctr"/>
                      <a:r>
                        <a:rPr lang="en-IN" sz="700" b="1" dirty="0">
                          <a:effectLst/>
                        </a:rPr>
                        <a:t>Mobile App</a:t>
                      </a:r>
                      <a:endParaRPr lang="en-IN" sz="700" dirty="0">
                        <a:effectLst/>
                      </a:endParaRPr>
                    </a:p>
                  </a:txBody>
                  <a:tcPr marL="7386" marR="7386" marT="3409" marB="3409" anchor="ctr"/>
                </a:tc>
                <a:tc>
                  <a:txBody>
                    <a:bodyPr/>
                    <a:lstStyle/>
                    <a:p>
                      <a:pPr algn="ctr"/>
                      <a:r>
                        <a:rPr lang="en-IN" sz="700" dirty="0">
                          <a:effectLst/>
                        </a:rPr>
                        <a:t>React Native</a:t>
                      </a:r>
                    </a:p>
                  </a:txBody>
                  <a:tcPr marL="7386" marR="7386" marT="3409" marB="3409" anchor="ctr"/>
                </a:tc>
                <a:tc>
                  <a:txBody>
                    <a:bodyPr/>
                    <a:lstStyle/>
                    <a:p>
                      <a:pPr algn="ctr"/>
                      <a:r>
                        <a:rPr lang="en-US" sz="700" dirty="0">
                          <a:effectLst/>
                        </a:rPr>
                        <a:t>Cross-platform, MetaMask deep links, Touch-optimized</a:t>
                      </a:r>
                    </a:p>
                  </a:txBody>
                  <a:tcPr marL="7386" marR="7386" marT="3409" marB="3409" anchor="ctr"/>
                </a:tc>
                <a:extLst>
                  <a:ext uri="{0D108BD9-81ED-4DB2-BD59-A6C34878D82A}">
                    <a16:rowId xmlns:a16="http://schemas.microsoft.com/office/drawing/2014/main" val="1045526963"/>
                  </a:ext>
                </a:extLst>
              </a:tr>
            </a:tbl>
          </a:graphicData>
        </a:graphic>
      </p:graphicFrame>
      <p:sp>
        <p:nvSpPr>
          <p:cNvPr id="12" name="TextBox 11">
            <a:extLst>
              <a:ext uri="{FF2B5EF4-FFF2-40B4-BE49-F238E27FC236}">
                <a16:creationId xmlns:a16="http://schemas.microsoft.com/office/drawing/2014/main" id="{C0E14DCE-CC78-BA6F-C00B-DDD305714467}"/>
              </a:ext>
            </a:extLst>
          </p:cNvPr>
          <p:cNvSpPr txBox="1"/>
          <p:nvPr/>
        </p:nvSpPr>
        <p:spPr>
          <a:xfrm>
            <a:off x="933450" y="1980478"/>
            <a:ext cx="2914447" cy="96436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spcBef>
                <a:spcPts val="1350"/>
              </a:spcBef>
              <a:spcAft>
                <a:spcPts val="600"/>
              </a:spcAft>
              <a:buNone/>
            </a:pPr>
            <a:r>
              <a:rPr lang="en-US" sz="800" b="1" i="0" dirty="0">
                <a:solidFill>
                  <a:schemeClr val="tx1"/>
                </a:solidFill>
                <a:effectLst/>
                <a:latin typeface="+mj-lt"/>
              </a:rPr>
              <a:t>Implementation Phases</a:t>
            </a:r>
          </a:p>
          <a:p>
            <a:pPr algn="l">
              <a:spcBef>
                <a:spcPts val="150"/>
              </a:spcBef>
              <a:spcAft>
                <a:spcPts val="150"/>
              </a:spcAft>
              <a:buFont typeface="+mj-lt"/>
              <a:buAutoNum type="arabicPeriod"/>
            </a:pPr>
            <a:r>
              <a:rPr lang="en-US" sz="800" b="1" i="0" dirty="0">
                <a:solidFill>
                  <a:schemeClr val="tx1"/>
                </a:solidFill>
                <a:effectLst/>
                <a:latin typeface="+mj-lt"/>
              </a:rPr>
              <a:t>Phase 1</a:t>
            </a:r>
            <a:r>
              <a:rPr lang="en-US" sz="800" b="0" i="0" dirty="0">
                <a:solidFill>
                  <a:schemeClr val="tx1"/>
                </a:solidFill>
                <a:effectLst/>
                <a:latin typeface="+mj-lt"/>
              </a:rPr>
              <a:t> - Smart Contract Development &amp; Backend API</a:t>
            </a:r>
          </a:p>
          <a:p>
            <a:pPr algn="l">
              <a:spcBef>
                <a:spcPts val="150"/>
              </a:spcBef>
              <a:spcAft>
                <a:spcPts val="150"/>
              </a:spcAft>
              <a:buFont typeface="+mj-lt"/>
              <a:buAutoNum type="arabicPeriod" startAt="2"/>
            </a:pPr>
            <a:r>
              <a:rPr lang="en-US" sz="800" b="1" i="0" dirty="0">
                <a:solidFill>
                  <a:schemeClr val="tx1"/>
                </a:solidFill>
                <a:effectLst/>
                <a:latin typeface="+mj-lt"/>
              </a:rPr>
              <a:t>Phase 2</a:t>
            </a:r>
            <a:r>
              <a:rPr lang="en-US" sz="800" b="0" i="0" dirty="0">
                <a:solidFill>
                  <a:schemeClr val="tx1"/>
                </a:solidFill>
                <a:effectLst/>
                <a:latin typeface="+mj-lt"/>
              </a:rPr>
              <a:t> - Web &amp; Mobile User Interfaces</a:t>
            </a:r>
          </a:p>
          <a:p>
            <a:pPr algn="l">
              <a:spcBef>
                <a:spcPts val="150"/>
              </a:spcBef>
              <a:spcAft>
                <a:spcPts val="150"/>
              </a:spcAft>
              <a:buFont typeface="+mj-lt"/>
              <a:buAutoNum type="arabicPeriod" startAt="3"/>
            </a:pPr>
            <a:r>
              <a:rPr lang="en-US" sz="800" b="1" i="0" dirty="0">
                <a:solidFill>
                  <a:schemeClr val="tx1"/>
                </a:solidFill>
                <a:effectLst/>
                <a:latin typeface="+mj-lt"/>
              </a:rPr>
              <a:t>Phase 3</a:t>
            </a:r>
            <a:r>
              <a:rPr lang="en-US" sz="800" b="0" i="0" dirty="0">
                <a:solidFill>
                  <a:schemeClr val="tx1"/>
                </a:solidFill>
                <a:effectLst/>
                <a:latin typeface="+mj-lt"/>
              </a:rPr>
              <a:t> - Integration &amp; Security Hardening</a:t>
            </a:r>
          </a:p>
          <a:p>
            <a:pPr algn="l">
              <a:spcBef>
                <a:spcPts val="150"/>
              </a:spcBef>
              <a:spcAft>
                <a:spcPts val="150"/>
              </a:spcAft>
              <a:buFont typeface="+mj-lt"/>
              <a:buAutoNum type="arabicPeriod" startAt="4"/>
            </a:pPr>
            <a:r>
              <a:rPr lang="en-US" sz="800" b="1" i="0" dirty="0">
                <a:solidFill>
                  <a:schemeClr val="tx1"/>
                </a:solidFill>
                <a:effectLst/>
                <a:latin typeface="+mj-lt"/>
              </a:rPr>
              <a:t>Phase 4</a:t>
            </a:r>
            <a:r>
              <a:rPr lang="en-US" sz="800" b="0" i="0" dirty="0">
                <a:solidFill>
                  <a:schemeClr val="tx1"/>
                </a:solidFill>
                <a:effectLst/>
                <a:latin typeface="+mj-lt"/>
              </a:rPr>
              <a:t> - Testing &amp; Deployment</a:t>
            </a:r>
          </a:p>
        </p:txBody>
      </p:sp>
      <p:sp>
        <p:nvSpPr>
          <p:cNvPr id="14" name="TextBox 13">
            <a:extLst>
              <a:ext uri="{FF2B5EF4-FFF2-40B4-BE49-F238E27FC236}">
                <a16:creationId xmlns:a16="http://schemas.microsoft.com/office/drawing/2014/main" id="{4386920D-DB3F-26AB-D02E-F81FE6F0EF66}"/>
              </a:ext>
            </a:extLst>
          </p:cNvPr>
          <p:cNvSpPr txBox="1"/>
          <p:nvPr/>
        </p:nvSpPr>
        <p:spPr>
          <a:xfrm>
            <a:off x="555335" y="3085664"/>
            <a:ext cx="3670675"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800" b="1" dirty="0"/>
              <a:t>Expected Timeline</a:t>
            </a:r>
            <a:r>
              <a:rPr lang="en-US" sz="800" dirty="0"/>
              <a:t>: 10 weeks | </a:t>
            </a:r>
            <a:r>
              <a:rPr lang="en-US" sz="800" b="1" dirty="0"/>
              <a:t>Target</a:t>
            </a:r>
            <a:r>
              <a:rPr lang="en-US" sz="800" dirty="0"/>
              <a:t>: 99.9% uptime, &lt;3s transactions</a:t>
            </a:r>
            <a:endParaRPr lang="en-IN" sz="800" dirty="0"/>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1146810" cy="244475"/>
          </a:xfrm>
          <a:prstGeom prst="rect">
            <a:avLst/>
          </a:prstGeom>
        </p:spPr>
        <p:txBody>
          <a:bodyPr vert="horz" wrap="square" lIns="0" tIns="17145" rIns="0" bIns="0" rtlCol="0">
            <a:spAutoFit/>
          </a:bodyPr>
          <a:lstStyle/>
          <a:p>
            <a:pPr marL="12700">
              <a:lnSpc>
                <a:spcPct val="100000"/>
              </a:lnSpc>
              <a:spcBef>
                <a:spcPts val="135"/>
              </a:spcBef>
            </a:pPr>
            <a:r>
              <a:rPr sz="1400" spc="-40" dirty="0">
                <a:solidFill>
                  <a:srgbClr val="FFFFFF"/>
                </a:solidFill>
                <a:latin typeface="Tahoma"/>
                <a:cs typeface="Tahoma"/>
              </a:rPr>
              <a:t>Responsibilities</a:t>
            </a:r>
            <a:endParaRPr sz="1400" dirty="0">
              <a:latin typeface="Tahoma"/>
              <a:cs typeface="Tahoma"/>
            </a:endParaRPr>
          </a:p>
        </p:txBody>
      </p:sp>
      <p:grpSp>
        <p:nvGrpSpPr>
          <p:cNvPr id="5" name="object 5"/>
          <p:cNvGrpSpPr/>
          <p:nvPr/>
        </p:nvGrpSpPr>
        <p:grpSpPr>
          <a:xfrm>
            <a:off x="0" y="3346348"/>
            <a:ext cx="4608195" cy="109855"/>
            <a:chOff x="0" y="3346348"/>
            <a:chExt cx="4608195" cy="109855"/>
          </a:xfrm>
        </p:grpSpPr>
        <p:sp>
          <p:nvSpPr>
            <p:cNvPr id="6" name="object 6"/>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9" name="object 9"/>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1" name="object 11"/>
          <p:cNvSpPr txBox="1">
            <a:spLocks noGrp="1"/>
          </p:cNvSpPr>
          <p:nvPr>
            <p:ph type="sldNum" sz="quarter" idx="7"/>
          </p:nvPr>
        </p:nvSpPr>
        <p:spPr>
          <a:xfrm>
            <a:off x="4299325" y="3351784"/>
            <a:ext cx="254000"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18</a:t>
            </a:fld>
            <a:r>
              <a:rPr spc="-85" dirty="0"/>
              <a:t> </a:t>
            </a:r>
            <a:r>
              <a:rPr spc="90" dirty="0"/>
              <a:t>/</a:t>
            </a:r>
            <a:r>
              <a:rPr spc="-85" dirty="0"/>
              <a:t> </a:t>
            </a:r>
            <a:r>
              <a:rPr spc="-35" dirty="0"/>
              <a:t>1</a:t>
            </a:r>
            <a:r>
              <a:rPr lang="en-US" spc="-35" dirty="0"/>
              <a:t>9</a:t>
            </a:r>
            <a:endParaRPr spc="-35" dirty="0"/>
          </a:p>
        </p:txBody>
      </p:sp>
      <p:graphicFrame>
        <p:nvGraphicFramePr>
          <p:cNvPr id="4" name="Table 3">
            <a:extLst>
              <a:ext uri="{FF2B5EF4-FFF2-40B4-BE49-F238E27FC236}">
                <a16:creationId xmlns:a16="http://schemas.microsoft.com/office/drawing/2014/main" id="{34DE7A66-43A7-52F2-45CF-E86E3BD6A768}"/>
              </a:ext>
            </a:extLst>
          </p:cNvPr>
          <p:cNvGraphicFramePr>
            <a:graphicFrameLocks noGrp="1"/>
          </p:cNvGraphicFramePr>
          <p:nvPr>
            <p:extLst>
              <p:ext uri="{D42A27DB-BD31-4B8C-83A1-F6EECF244321}">
                <p14:modId xmlns:p14="http://schemas.microsoft.com/office/powerpoint/2010/main" val="2648495556"/>
              </p:ext>
            </p:extLst>
          </p:nvPr>
        </p:nvGraphicFramePr>
        <p:xfrm>
          <a:off x="552450" y="677778"/>
          <a:ext cx="3799256" cy="2341299"/>
        </p:xfrm>
        <a:graphic>
          <a:graphicData uri="http://schemas.openxmlformats.org/drawingml/2006/table">
            <a:tbl>
              <a:tblPr>
                <a:tableStyleId>{0505E3EF-67EA-436B-97B2-0124C06EBD24}</a:tableStyleId>
              </a:tblPr>
              <a:tblGrid>
                <a:gridCol w="881824">
                  <a:extLst>
                    <a:ext uri="{9D8B030D-6E8A-4147-A177-3AD203B41FA5}">
                      <a16:colId xmlns:a16="http://schemas.microsoft.com/office/drawing/2014/main" val="4164135508"/>
                    </a:ext>
                  </a:extLst>
                </a:gridCol>
                <a:gridCol w="1424721">
                  <a:extLst>
                    <a:ext uri="{9D8B030D-6E8A-4147-A177-3AD203B41FA5}">
                      <a16:colId xmlns:a16="http://schemas.microsoft.com/office/drawing/2014/main" val="3991465953"/>
                    </a:ext>
                  </a:extLst>
                </a:gridCol>
                <a:gridCol w="1492711">
                  <a:extLst>
                    <a:ext uri="{9D8B030D-6E8A-4147-A177-3AD203B41FA5}">
                      <a16:colId xmlns:a16="http://schemas.microsoft.com/office/drawing/2014/main" val="23772319"/>
                    </a:ext>
                  </a:extLst>
                </a:gridCol>
              </a:tblGrid>
              <a:tr h="231103">
                <a:tc>
                  <a:txBody>
                    <a:bodyPr/>
                    <a:lstStyle/>
                    <a:p>
                      <a:pPr algn="ctr"/>
                      <a:r>
                        <a:rPr lang="en-IN" sz="900" b="1" dirty="0">
                          <a:solidFill>
                            <a:schemeClr val="tx1"/>
                          </a:solidFill>
                          <a:effectLst/>
                        </a:rPr>
                        <a:t>Team Member</a:t>
                      </a:r>
                      <a:endParaRPr lang="en-IN" sz="900" dirty="0">
                        <a:solidFill>
                          <a:schemeClr val="tx1"/>
                        </a:solidFill>
                        <a:effectLst/>
                      </a:endParaRPr>
                    </a:p>
                  </a:txBody>
                  <a:tcPr marL="6825" marR="6825" marT="3150" marB="3150" anchor="ctr"/>
                </a:tc>
                <a:tc>
                  <a:txBody>
                    <a:bodyPr/>
                    <a:lstStyle/>
                    <a:p>
                      <a:pPr algn="ctr"/>
                      <a:r>
                        <a:rPr lang="en-IN" sz="900" b="1">
                          <a:solidFill>
                            <a:schemeClr val="tx1"/>
                          </a:solidFill>
                          <a:effectLst/>
                        </a:rPr>
                        <a:t>Role</a:t>
                      </a:r>
                      <a:endParaRPr lang="en-IN" sz="900">
                        <a:solidFill>
                          <a:schemeClr val="tx1"/>
                        </a:solidFill>
                        <a:effectLst/>
                      </a:endParaRPr>
                    </a:p>
                  </a:txBody>
                  <a:tcPr marL="6825" marR="6825" marT="3150" marB="3150" anchor="ctr"/>
                </a:tc>
                <a:tc>
                  <a:txBody>
                    <a:bodyPr/>
                    <a:lstStyle/>
                    <a:p>
                      <a:pPr algn="ctr"/>
                      <a:r>
                        <a:rPr lang="en-IN" sz="900" b="1">
                          <a:solidFill>
                            <a:schemeClr val="tx1"/>
                          </a:solidFill>
                          <a:effectLst/>
                        </a:rPr>
                        <a:t>Responsibilities</a:t>
                      </a:r>
                      <a:endParaRPr lang="en-IN" sz="900">
                        <a:solidFill>
                          <a:schemeClr val="tx1"/>
                        </a:solidFill>
                        <a:effectLst/>
                      </a:endParaRPr>
                    </a:p>
                  </a:txBody>
                  <a:tcPr marL="6825" marR="6825" marT="3150" marB="3150" anchor="ctr"/>
                </a:tc>
                <a:extLst>
                  <a:ext uri="{0D108BD9-81ED-4DB2-BD59-A6C34878D82A}">
                    <a16:rowId xmlns:a16="http://schemas.microsoft.com/office/drawing/2014/main" val="2112026065"/>
                  </a:ext>
                </a:extLst>
              </a:tr>
              <a:tr h="593577">
                <a:tc>
                  <a:txBody>
                    <a:bodyPr/>
                    <a:lstStyle/>
                    <a:p>
                      <a:pPr algn="ctr"/>
                      <a:r>
                        <a:rPr lang="en-IN" sz="900" b="1" dirty="0">
                          <a:solidFill>
                            <a:schemeClr val="tx1"/>
                          </a:solidFill>
                          <a:effectLst/>
                        </a:rPr>
                        <a:t>Archee Arjun</a:t>
                      </a:r>
                      <a:endParaRPr lang="en-IN" sz="900" dirty="0">
                        <a:solidFill>
                          <a:schemeClr val="tx1"/>
                        </a:solidFill>
                        <a:effectLst/>
                      </a:endParaRPr>
                    </a:p>
                  </a:txBody>
                  <a:tcPr marL="6825" marR="6825" marT="3150" marB="3150" anchor="ctr"/>
                </a:tc>
                <a:tc>
                  <a:txBody>
                    <a:bodyPr/>
                    <a:lstStyle/>
                    <a:p>
                      <a:pPr algn="ctr"/>
                      <a:r>
                        <a:rPr lang="en-IN" sz="900" dirty="0">
                          <a:solidFill>
                            <a:schemeClr val="tx1"/>
                          </a:solidFill>
                          <a:effectLst/>
                        </a:rPr>
                        <a:t>Blockchain</a:t>
                      </a:r>
                    </a:p>
                  </a:txBody>
                  <a:tcPr marL="6825" marR="6825" marT="3150" marB="3150" anchor="ctr"/>
                </a:tc>
                <a:tc>
                  <a:txBody>
                    <a:bodyPr/>
                    <a:lstStyle/>
                    <a:p>
                      <a:pPr algn="ctr"/>
                      <a:r>
                        <a:rPr lang="en-US" sz="900">
                          <a:solidFill>
                            <a:schemeClr val="tx1"/>
                          </a:solidFill>
                          <a:effectLst/>
                        </a:rPr>
                        <a:t>Smart contracts, Hardhat, Team coordination</a:t>
                      </a:r>
                    </a:p>
                  </a:txBody>
                  <a:tcPr marL="6825" marR="6825" marT="3150" marB="3150" anchor="ctr"/>
                </a:tc>
                <a:extLst>
                  <a:ext uri="{0D108BD9-81ED-4DB2-BD59-A6C34878D82A}">
                    <a16:rowId xmlns:a16="http://schemas.microsoft.com/office/drawing/2014/main" val="3335312958"/>
                  </a:ext>
                </a:extLst>
              </a:tr>
              <a:tr h="534427">
                <a:tc>
                  <a:txBody>
                    <a:bodyPr/>
                    <a:lstStyle/>
                    <a:p>
                      <a:pPr algn="ctr"/>
                      <a:r>
                        <a:rPr lang="en-IN" sz="900" b="1">
                          <a:solidFill>
                            <a:schemeClr val="tx1"/>
                          </a:solidFill>
                          <a:effectLst/>
                        </a:rPr>
                        <a:t>Shivangi Priya</a:t>
                      </a:r>
                      <a:endParaRPr lang="en-IN" sz="900">
                        <a:solidFill>
                          <a:schemeClr val="tx1"/>
                        </a:solidFill>
                        <a:effectLst/>
                      </a:endParaRPr>
                    </a:p>
                  </a:txBody>
                  <a:tcPr marL="6825" marR="6825" marT="3150" marB="3150" anchor="ctr"/>
                </a:tc>
                <a:tc>
                  <a:txBody>
                    <a:bodyPr/>
                    <a:lstStyle/>
                    <a:p>
                      <a:pPr algn="ctr"/>
                      <a:r>
                        <a:rPr lang="en-IN" sz="900">
                          <a:solidFill>
                            <a:schemeClr val="tx1"/>
                          </a:solidFill>
                          <a:effectLst/>
                        </a:rPr>
                        <a:t>Frontend</a:t>
                      </a:r>
                    </a:p>
                  </a:txBody>
                  <a:tcPr marL="6825" marR="6825" marT="3150" marB="3150" anchor="ctr"/>
                </a:tc>
                <a:tc>
                  <a:txBody>
                    <a:bodyPr/>
                    <a:lstStyle/>
                    <a:p>
                      <a:pPr algn="ctr"/>
                      <a:r>
                        <a:rPr lang="en-US" sz="900">
                          <a:solidFill>
                            <a:schemeClr val="tx1"/>
                          </a:solidFill>
                          <a:effectLst/>
                        </a:rPr>
                        <a:t>React web app, MetaMask integration, UI/UX</a:t>
                      </a:r>
                    </a:p>
                  </a:txBody>
                  <a:tcPr marL="6825" marR="6825" marT="3150" marB="3150" anchor="ctr"/>
                </a:tc>
                <a:extLst>
                  <a:ext uri="{0D108BD9-81ED-4DB2-BD59-A6C34878D82A}">
                    <a16:rowId xmlns:a16="http://schemas.microsoft.com/office/drawing/2014/main" val="1704991400"/>
                  </a:ext>
                </a:extLst>
              </a:tr>
              <a:tr h="491096">
                <a:tc>
                  <a:txBody>
                    <a:bodyPr/>
                    <a:lstStyle/>
                    <a:p>
                      <a:pPr algn="ctr"/>
                      <a:r>
                        <a:rPr lang="en-IN" sz="900" b="1">
                          <a:solidFill>
                            <a:schemeClr val="tx1"/>
                          </a:solidFill>
                          <a:effectLst/>
                        </a:rPr>
                        <a:t>Mod Sultan</a:t>
                      </a:r>
                      <a:endParaRPr lang="en-IN" sz="900">
                        <a:solidFill>
                          <a:schemeClr val="tx1"/>
                        </a:solidFill>
                        <a:effectLst/>
                      </a:endParaRPr>
                    </a:p>
                  </a:txBody>
                  <a:tcPr marL="6825" marR="6825" marT="3150" marB="3150" anchor="ctr"/>
                </a:tc>
                <a:tc>
                  <a:txBody>
                    <a:bodyPr/>
                    <a:lstStyle/>
                    <a:p>
                      <a:pPr algn="ctr"/>
                      <a:r>
                        <a:rPr lang="en-IN" sz="900">
                          <a:solidFill>
                            <a:schemeClr val="tx1"/>
                          </a:solidFill>
                          <a:effectLst/>
                        </a:rPr>
                        <a:t>Backend</a:t>
                      </a:r>
                    </a:p>
                  </a:txBody>
                  <a:tcPr marL="6825" marR="6825" marT="3150" marB="3150" anchor="ctr"/>
                </a:tc>
                <a:tc>
                  <a:txBody>
                    <a:bodyPr/>
                    <a:lstStyle/>
                    <a:p>
                      <a:pPr algn="ctr"/>
                      <a:r>
                        <a:rPr lang="en-IN" sz="900">
                          <a:solidFill>
                            <a:schemeClr val="tx1"/>
                          </a:solidFill>
                          <a:effectLst/>
                        </a:rPr>
                        <a:t>Node.js API, KYC services, Database, Security</a:t>
                      </a:r>
                    </a:p>
                  </a:txBody>
                  <a:tcPr marL="6825" marR="6825" marT="3150" marB="3150" anchor="ctr"/>
                </a:tc>
                <a:extLst>
                  <a:ext uri="{0D108BD9-81ED-4DB2-BD59-A6C34878D82A}">
                    <a16:rowId xmlns:a16="http://schemas.microsoft.com/office/drawing/2014/main" val="2171896284"/>
                  </a:ext>
                </a:extLst>
              </a:tr>
              <a:tr h="491096">
                <a:tc>
                  <a:txBody>
                    <a:bodyPr/>
                    <a:lstStyle/>
                    <a:p>
                      <a:pPr algn="ctr"/>
                      <a:r>
                        <a:rPr lang="en-IN" sz="900" b="1">
                          <a:solidFill>
                            <a:schemeClr val="tx1"/>
                          </a:solidFill>
                          <a:effectLst/>
                        </a:rPr>
                        <a:t>Keshav Gupta</a:t>
                      </a:r>
                      <a:endParaRPr lang="en-IN" sz="900">
                        <a:solidFill>
                          <a:schemeClr val="tx1"/>
                        </a:solidFill>
                        <a:effectLst/>
                      </a:endParaRPr>
                    </a:p>
                  </a:txBody>
                  <a:tcPr marL="6825" marR="6825" marT="3150" marB="3150" anchor="ctr"/>
                </a:tc>
                <a:tc>
                  <a:txBody>
                    <a:bodyPr/>
                    <a:lstStyle/>
                    <a:p>
                      <a:pPr algn="ctr"/>
                      <a:r>
                        <a:rPr lang="en-IN" sz="900" dirty="0">
                          <a:solidFill>
                            <a:schemeClr val="tx1"/>
                          </a:solidFill>
                          <a:effectLst/>
                        </a:rPr>
                        <a:t>Mobile</a:t>
                      </a:r>
                    </a:p>
                  </a:txBody>
                  <a:tcPr marL="6825" marR="6825" marT="3150" marB="3150" anchor="ctr"/>
                </a:tc>
                <a:tc>
                  <a:txBody>
                    <a:bodyPr/>
                    <a:lstStyle/>
                    <a:p>
                      <a:pPr algn="ctr"/>
                      <a:r>
                        <a:rPr lang="en-US" sz="900" dirty="0">
                          <a:solidFill>
                            <a:schemeClr val="tx1"/>
                          </a:solidFill>
                          <a:effectLst/>
                        </a:rPr>
                        <a:t>React Native app, Testing, Quality assurance</a:t>
                      </a:r>
                    </a:p>
                  </a:txBody>
                  <a:tcPr marL="6825" marR="6825" marT="3150" marB="3150" anchor="ctr"/>
                </a:tc>
                <a:extLst>
                  <a:ext uri="{0D108BD9-81ED-4DB2-BD59-A6C34878D82A}">
                    <a16:rowId xmlns:a16="http://schemas.microsoft.com/office/drawing/2014/main" val="1430036865"/>
                  </a:ext>
                </a:extLst>
              </a:tr>
            </a:tbl>
          </a:graphicData>
        </a:graphic>
      </p:graphicFrame>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59878"/>
            <a:ext cx="824230" cy="244475"/>
          </a:xfrm>
          <a:prstGeom prst="rect">
            <a:avLst/>
          </a:prstGeom>
        </p:spPr>
        <p:txBody>
          <a:bodyPr vert="horz" wrap="square" lIns="0" tIns="17145" rIns="0" bIns="0" rtlCol="0">
            <a:spAutoFit/>
          </a:bodyPr>
          <a:lstStyle/>
          <a:p>
            <a:pPr marL="12700">
              <a:lnSpc>
                <a:spcPct val="100000"/>
              </a:lnSpc>
              <a:spcBef>
                <a:spcPts val="135"/>
              </a:spcBef>
            </a:pPr>
            <a:r>
              <a:rPr sz="1400" spc="-35" dirty="0">
                <a:solidFill>
                  <a:srgbClr val="FFFFFF"/>
                </a:solidFill>
                <a:latin typeface="Tahoma"/>
                <a:cs typeface="Tahoma"/>
              </a:rPr>
              <a:t>Conclusion</a:t>
            </a:r>
            <a:endParaRPr sz="1400">
              <a:latin typeface="Tahoma"/>
              <a:cs typeface="Tahoma"/>
            </a:endParaRPr>
          </a:p>
        </p:txBody>
      </p:sp>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3333B2"/>
            </a:solidFill>
          </p:spPr>
          <p:txBody>
            <a:bodyPr wrap="square" lIns="0" tIns="0" rIns="0" bIns="0" rtlCol="0"/>
            <a:lstStyle/>
            <a:p>
              <a:endParaRPr/>
            </a:p>
          </p:txBody>
        </p:sp>
      </p:grpSp>
      <p:sp>
        <p:nvSpPr>
          <p:cNvPr id="10" name="object 10"/>
          <p:cNvSpPr txBox="1"/>
          <p:nvPr/>
        </p:nvSpPr>
        <p:spPr>
          <a:xfrm>
            <a:off x="1821992" y="3351784"/>
            <a:ext cx="963930" cy="89768"/>
          </a:xfrm>
          <a:prstGeom prst="rect">
            <a:avLst/>
          </a:prstGeom>
        </p:spPr>
        <p:txBody>
          <a:bodyPr vert="horz" wrap="square" lIns="0" tIns="0" rIns="0" bIns="0" rtlCol="0">
            <a:spAutoFit/>
          </a:bodyPr>
          <a:lstStyle/>
          <a:p>
            <a:pPr marL="12700" algn="ctr">
              <a:lnSpc>
                <a:spcPts val="675"/>
              </a:lnSpc>
            </a:pPr>
            <a:r>
              <a:rPr lang="en-US" sz="600" dirty="0">
                <a:solidFill>
                  <a:srgbClr val="FFFFFF"/>
                </a:solidFill>
                <a:latin typeface="Tahoma"/>
                <a:cs typeface="Tahoma"/>
              </a:rPr>
              <a:t>BharatVote</a:t>
            </a:r>
            <a:endParaRPr lang="en-US" sz="600" dirty="0">
              <a:latin typeface="Tahoma"/>
              <a:cs typeface="Tahoma"/>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lang="en-IN"/>
              <a:t>August 4, 2025</a:t>
            </a:r>
            <a:endParaRPr spc="-20" dirty="0"/>
          </a:p>
        </p:txBody>
      </p:sp>
      <p:sp>
        <p:nvSpPr>
          <p:cNvPr id="12" name="object 12"/>
          <p:cNvSpPr txBox="1">
            <a:spLocks noGrp="1"/>
          </p:cNvSpPr>
          <p:nvPr>
            <p:ph type="sldNum" sz="quarter" idx="7"/>
          </p:nvPr>
        </p:nvSpPr>
        <p:spPr>
          <a:xfrm>
            <a:off x="4210050" y="3351784"/>
            <a:ext cx="343275" cy="89768"/>
          </a:xfrm>
          <a:prstGeom prst="rect">
            <a:avLst/>
          </a:prstGeom>
        </p:spPr>
        <p:txBody>
          <a:bodyPr vert="horz" wrap="square" lIns="0" tIns="0" rIns="0" bIns="0" rtlCol="0">
            <a:spAutoFit/>
          </a:bodyPr>
          <a:lstStyle/>
          <a:p>
            <a:pPr marL="12700">
              <a:lnSpc>
                <a:spcPts val="675"/>
              </a:lnSpc>
            </a:pPr>
            <a:fld id="{81D60167-4931-47E6-BA6A-407CBD079E47}" type="slidenum">
              <a:rPr spc="-10" dirty="0"/>
              <a:t>19</a:t>
            </a:fld>
            <a:r>
              <a:rPr spc="-85" dirty="0"/>
              <a:t> </a:t>
            </a:r>
            <a:r>
              <a:rPr spc="90" dirty="0"/>
              <a:t>/</a:t>
            </a:r>
            <a:r>
              <a:rPr spc="-85" dirty="0"/>
              <a:t> </a:t>
            </a:r>
            <a:r>
              <a:rPr spc="-35" dirty="0"/>
              <a:t>1</a:t>
            </a:r>
            <a:r>
              <a:rPr lang="en-US" spc="-35" dirty="0"/>
              <a:t>9</a:t>
            </a:r>
            <a:endParaRPr spc="-35" dirty="0"/>
          </a:p>
        </p:txBody>
      </p:sp>
      <p:sp>
        <p:nvSpPr>
          <p:cNvPr id="13" name="TextBox 12">
            <a:extLst>
              <a:ext uri="{FF2B5EF4-FFF2-40B4-BE49-F238E27FC236}">
                <a16:creationId xmlns:a16="http://schemas.microsoft.com/office/drawing/2014/main" id="{33067240-7029-7459-6E31-213F25292DB8}"/>
              </a:ext>
            </a:extLst>
          </p:cNvPr>
          <p:cNvSpPr txBox="1"/>
          <p:nvPr/>
        </p:nvSpPr>
        <p:spPr>
          <a:xfrm>
            <a:off x="228812" y="818089"/>
            <a:ext cx="4152475" cy="163121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000" dirty="0"/>
              <a:t>BharatVote aims to transform how small-scale elections are conducted by addressing key challenges like lack of transparency, fraud risk, limited accessibility, and paper-based inefficiencies. Using blockchain for tamper-proof records, commit–reveal cryptography for privacy, and Merkle proofs for voter validation, it ensures secure, verifiable voting. Its web and mobile interfaces with MetaMask integration make voting accessible to all, including remote and disabled users. With real-time tallying, open-source smart contracts, and a user-friendly admin dashboard, BharatVote delivers trust, transparency, and ease — a prototype built to restore faith in democratic participation and pave the way for scalable, cost-effective digital elections.</a:t>
            </a:r>
            <a:endParaRPr lang="en-IN" sz="1000"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821</TotalTime>
  <Words>2053</Words>
  <Application>Microsoft Office PowerPoint</Application>
  <PresentationFormat>Custom</PresentationFormat>
  <Paragraphs>330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Review of existing product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 you plan to implement the project?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project/product</dc:title>
  <dc:creator>Archee Arjun</dc:creator>
  <cp:lastModifiedBy>Archee Arjun</cp:lastModifiedBy>
  <cp:revision>7</cp:revision>
  <dcterms:created xsi:type="dcterms:W3CDTF">2025-08-02T12:30:56Z</dcterms:created>
  <dcterms:modified xsi:type="dcterms:W3CDTF">2025-08-04T07:00:35Z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LaTeX with Beamer class</vt:lpwstr>
  </property>
  <property fmtid="{D5CDD505-2E9C-101B-9397-08002B2CF9AE}" pid="4" name="LastSaved">
    <vt:filetime>2025-08-02T00:00:00Z</vt:filetime>
  </property>
  <property fmtid="{D5CDD505-2E9C-101B-9397-08002B2CF9AE}" pid="5" name="PTEX.Fullbanner">
    <vt:lpwstr>This is pdfTeX, Version 3.141592653-2.6-1.40.26 (TeX Live 2024) kpathsea version 6.4.0</vt:lpwstr>
  </property>
  <property fmtid="{D5CDD505-2E9C-101B-9397-08002B2CF9AE}" pid="6" name="Producer">
    <vt:lpwstr>pdfTeX-1.40.26</vt:lpwstr>
  </property>
</Properties>
</file>